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5486400" cy="548640"/>
          </a:xfrm>
          <a:prstGeom prst="rect">
            <a:avLst/>
          </a:prstGeom>
          <a:noFill/>
        </p:spPr>
        <p:txBody>
          <a:bodyPr wrap="square">
            <a:spAutoFit/>
          </a:bodyPr>
          <a:lstStyle/>
          <a:p>
            <a:pPr algn="l">
              <a:defRPr sz="2200" b="1">
                <a:solidFill>
                  <a:srgbClr val="E91E8C"/>
                </a:solidFill>
                <a:latin typeface="Calibri"/>
              </a:defRPr>
            </a:pPr>
            <a:r>
              <a:t>SEARCHBOOST</a:t>
            </a:r>
          </a:p>
        </p:txBody>
      </p:sp>
      <p:sp>
        <p:nvSpPr>
          <p:cNvPr id="4" name="TextBox 3"/>
          <p:cNvSpPr txBox="1"/>
          <p:nvPr/>
        </p:nvSpPr>
        <p:spPr>
          <a:xfrm>
            <a:off x="914400" y="2103120"/>
            <a:ext cx="10058400" cy="1097280"/>
          </a:xfrm>
          <a:prstGeom prst="rect">
            <a:avLst/>
          </a:prstGeom>
          <a:noFill/>
        </p:spPr>
        <p:txBody>
          <a:bodyPr wrap="square">
            <a:spAutoFit/>
          </a:bodyPr>
          <a:lstStyle/>
          <a:p>
            <a:pPr algn="l">
              <a:defRPr sz="4800" b="1">
                <a:solidFill>
                  <a:srgbClr val="FFFFFF"/>
                </a:solidFill>
                <a:latin typeface="Calibri"/>
              </a:defRPr>
            </a:pPr>
            <a:r>
              <a:t>SEO-Analys &amp; Åtgärdsplan</a:t>
            </a:r>
          </a:p>
        </p:txBody>
      </p:sp>
      <p:sp>
        <p:nvSpPr>
          <p:cNvPr id="5" name="TextBox 4"/>
          <p:cNvSpPr txBox="1"/>
          <p:nvPr/>
        </p:nvSpPr>
        <p:spPr>
          <a:xfrm>
            <a:off x="914400" y="3291840"/>
            <a:ext cx="10058400" cy="731520"/>
          </a:xfrm>
          <a:prstGeom prst="rect">
            <a:avLst/>
          </a:prstGeom>
          <a:noFill/>
        </p:spPr>
        <p:txBody>
          <a:bodyPr wrap="square">
            <a:spAutoFit/>
          </a:bodyPr>
          <a:lstStyle/>
          <a:p>
            <a:pPr algn="l">
              <a:defRPr sz="4000" b="1">
                <a:solidFill>
                  <a:srgbClr val="00D4FF"/>
                </a:solidFill>
                <a:latin typeface="Calibri"/>
              </a:defRPr>
            </a:pPr>
            <a:r>
              <a:t>Nordic Snus Online</a:t>
            </a:r>
          </a:p>
        </p:txBody>
      </p:sp>
      <p:sp>
        <p:nvSpPr>
          <p:cNvPr id="6" name="TextBox 5"/>
          <p:cNvSpPr txBox="1"/>
          <p:nvPr/>
        </p:nvSpPr>
        <p:spPr>
          <a:xfrm>
            <a:off x="914400" y="4023360"/>
            <a:ext cx="10058400" cy="457200"/>
          </a:xfrm>
          <a:prstGeom prst="rect">
            <a:avLst/>
          </a:prstGeom>
          <a:noFill/>
        </p:spPr>
        <p:txBody>
          <a:bodyPr wrap="square">
            <a:spAutoFit/>
          </a:bodyPr>
          <a:lstStyle/>
          <a:p>
            <a:pPr algn="l">
              <a:defRPr sz="2200" b="0">
                <a:solidFill>
                  <a:srgbClr val="94A3B8"/>
                </a:solidFill>
                <a:latin typeface="Calibri"/>
              </a:defRPr>
            </a:pPr>
            <a:r>
              <a:t>nordicsnusonline.com</a:t>
            </a:r>
          </a:p>
        </p:txBody>
      </p:sp>
      <p:sp>
        <p:nvSpPr>
          <p:cNvPr id="7" name="Rectangle 6"/>
          <p:cNvSpPr/>
          <p:nvPr/>
        </p:nvSpPr>
        <p:spPr>
          <a:xfrm>
            <a:off x="914400" y="4754880"/>
            <a:ext cx="2743200" cy="54864"/>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029200"/>
            <a:ext cx="5486400" cy="457200"/>
          </a:xfrm>
          <a:prstGeom prst="rect">
            <a:avLst/>
          </a:prstGeom>
          <a:noFill/>
        </p:spPr>
        <p:txBody>
          <a:bodyPr wrap="square">
            <a:spAutoFit/>
          </a:bodyPr>
          <a:lstStyle/>
          <a:p>
            <a:pPr algn="l">
              <a:defRPr sz="1600" b="0">
                <a:solidFill>
                  <a:srgbClr val="94A3B8"/>
                </a:solidFill>
                <a:latin typeface="Calibri"/>
              </a:defRPr>
            </a:pPr>
            <a:r>
              <a:t>Mikael Larsson — Medierådgivare</a:t>
            </a:r>
          </a:p>
        </p:txBody>
      </p:sp>
      <p:sp>
        <p:nvSpPr>
          <p:cNvPr id="9" name="TextBox 8"/>
          <p:cNvSpPr txBox="1"/>
          <p:nvPr/>
        </p:nvSpPr>
        <p:spPr>
          <a:xfrm>
            <a:off x="914400" y="5394960"/>
            <a:ext cx="5486400" cy="457200"/>
          </a:xfrm>
          <a:prstGeom prst="rect">
            <a:avLst/>
          </a:prstGeom>
          <a:noFill/>
        </p:spPr>
        <p:txBody>
          <a:bodyPr wrap="square">
            <a:spAutoFit/>
          </a:bodyPr>
          <a:lstStyle/>
          <a:p>
            <a:pPr algn="l">
              <a:defRPr sz="1400" b="0">
                <a:solidFill>
                  <a:srgbClr val="94A3B8"/>
                </a:solidFill>
                <a:latin typeface="Calibri"/>
              </a:defRPr>
            </a:pPr>
            <a:r>
              <a:t>mikael@searchboost.se | 0760-19 49 05</a:t>
            </a:r>
          </a:p>
        </p:txBody>
      </p:sp>
      <p:sp>
        <p:nvSpPr>
          <p:cNvPr id="10" name="TextBox 9"/>
          <p:cNvSpPr txBox="1"/>
          <p:nvPr/>
        </p:nvSpPr>
        <p:spPr>
          <a:xfrm>
            <a:off x="8229600" y="6035040"/>
            <a:ext cx="3657600" cy="457200"/>
          </a:xfrm>
          <a:prstGeom prst="rect">
            <a:avLst/>
          </a:prstGeom>
          <a:noFill/>
        </p:spPr>
        <p:txBody>
          <a:bodyPr wrap="square">
            <a:spAutoFit/>
          </a:bodyPr>
          <a:lstStyle/>
          <a:p>
            <a:pPr algn="r">
              <a:defRPr sz="1400" b="1">
                <a:solidFill>
                  <a:srgbClr val="E91E8C"/>
                </a:solidFill>
                <a:latin typeface="Calibri"/>
              </a:defRPr>
            </a:pPr>
            <a:r>
              <a:t>searchboost.se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457200"/>
          </a:xfrm>
          <a:prstGeom prst="rect">
            <a:avLst/>
          </a:prstGeom>
          <a:noFill/>
        </p:spPr>
        <p:txBody>
          <a:bodyPr wrap="square">
            <a:spAutoFit/>
          </a:bodyPr>
          <a:lstStyle/>
          <a:p>
            <a:pPr algn="l">
              <a:defRPr sz="1400" b="1">
                <a:solidFill>
                  <a:srgbClr val="E91E8C"/>
                </a:solidFill>
                <a:latin typeface="Calibri"/>
              </a:defRPr>
            </a:pPr>
            <a:r>
              <a:t>Nulägesanalys</a:t>
            </a:r>
          </a:p>
        </p:txBody>
      </p:sp>
      <p:sp>
        <p:nvSpPr>
          <p:cNvPr id="4" name="TextBox 3"/>
          <p:cNvSpPr txBox="1"/>
          <p:nvPr/>
        </p:nvSpPr>
        <p:spPr>
          <a:xfrm>
            <a:off x="731520" y="822960"/>
            <a:ext cx="10058400" cy="548640"/>
          </a:xfrm>
          <a:prstGeom prst="rect">
            <a:avLst/>
          </a:prstGeom>
          <a:noFill/>
        </p:spPr>
        <p:txBody>
          <a:bodyPr wrap="square">
            <a:spAutoFit/>
          </a:bodyPr>
          <a:lstStyle/>
          <a:p>
            <a:pPr algn="l">
              <a:defRPr sz="3200" b="1">
                <a:solidFill>
                  <a:srgbClr val="FFFFFF"/>
                </a:solidFill>
                <a:latin typeface="Calibri"/>
              </a:defRPr>
            </a:pPr>
            <a:r>
              <a:t>Analys av nordicsnusonline.com</a:t>
            </a:r>
          </a:p>
        </p:txBody>
      </p:sp>
      <p:sp>
        <p:nvSpPr>
          <p:cNvPr id="5" name="Oval 4"/>
          <p:cNvSpPr/>
          <p:nvPr/>
        </p:nvSpPr>
        <p:spPr>
          <a:xfrm>
            <a:off x="914400" y="1645920"/>
            <a:ext cx="2560320" cy="2560320"/>
          </a:xfrm>
          <a:prstGeom prst="ellipse">
            <a:avLst/>
          </a:prstGeom>
          <a:solidFill>
            <a:srgbClr val="1E293B"/>
          </a:solidFill>
          <a:ln w="762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94560"/>
            <a:ext cx="2560320" cy="914400"/>
          </a:xfrm>
          <a:prstGeom prst="rect">
            <a:avLst/>
          </a:prstGeom>
          <a:noFill/>
        </p:spPr>
        <p:txBody>
          <a:bodyPr wrap="square">
            <a:spAutoFit/>
          </a:bodyPr>
          <a:lstStyle/>
          <a:p>
            <a:pPr algn="ctr">
              <a:defRPr sz="6400" b="1">
                <a:solidFill>
                  <a:srgbClr val="F59E0B"/>
                </a:solidFill>
                <a:latin typeface="Calibri"/>
              </a:defRPr>
            </a:pPr>
            <a:r>
              <a:t>62</a:t>
            </a:r>
          </a:p>
        </p:txBody>
      </p:sp>
      <p:sp>
        <p:nvSpPr>
          <p:cNvPr id="7" name="TextBox 6"/>
          <p:cNvSpPr txBox="1"/>
          <p:nvPr/>
        </p:nvSpPr>
        <p:spPr>
          <a:xfrm>
            <a:off x="914400" y="3200400"/>
            <a:ext cx="2560320" cy="365760"/>
          </a:xfrm>
          <a:prstGeom prst="rect">
            <a:avLst/>
          </a:prstGeom>
          <a:noFill/>
        </p:spPr>
        <p:txBody>
          <a:bodyPr wrap="square">
            <a:spAutoFit/>
          </a:bodyPr>
          <a:lstStyle/>
          <a:p>
            <a:pPr algn="ctr">
              <a:defRPr sz="2000" b="0">
                <a:solidFill>
                  <a:srgbClr val="94A3B8"/>
                </a:solidFill>
                <a:latin typeface="Calibri"/>
              </a:defRPr>
            </a:pPr>
            <a:r>
              <a:t>/100</a:t>
            </a:r>
          </a:p>
        </p:txBody>
      </p:sp>
      <p:sp>
        <p:nvSpPr>
          <p:cNvPr id="8" name="TextBox 7"/>
          <p:cNvSpPr txBox="1"/>
          <p:nvPr/>
        </p:nvSpPr>
        <p:spPr>
          <a:xfrm>
            <a:off x="914400" y="4389120"/>
            <a:ext cx="2560320" cy="365760"/>
          </a:xfrm>
          <a:prstGeom prst="rect">
            <a:avLst/>
          </a:prstGeom>
          <a:noFill/>
        </p:spPr>
        <p:txBody>
          <a:bodyPr wrap="square">
            <a:spAutoFit/>
          </a:bodyPr>
          <a:lstStyle/>
          <a:p>
            <a:pPr algn="ctr">
              <a:defRPr sz="1600" b="1">
                <a:solidFill>
                  <a:srgbClr val="FFFFFF"/>
                </a:solidFill>
                <a:latin typeface="Calibri"/>
              </a:defRPr>
            </a:pPr>
            <a:r>
              <a:t>SEO-poäng</a:t>
            </a:r>
          </a:p>
        </p:txBody>
      </p:sp>
      <p:sp>
        <p:nvSpPr>
          <p:cNvPr id="9" name="Rounded Rectangle 8"/>
          <p:cNvSpPr/>
          <p:nvPr/>
        </p:nvSpPr>
        <p:spPr>
          <a:xfrm>
            <a:off x="4114800" y="1645920"/>
            <a:ext cx="2011680" cy="12801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0" y="1783080"/>
            <a:ext cx="2011680" cy="640080"/>
          </a:xfrm>
          <a:prstGeom prst="rect">
            <a:avLst/>
          </a:prstGeom>
          <a:noFill/>
        </p:spPr>
        <p:txBody>
          <a:bodyPr wrap="square">
            <a:spAutoFit/>
          </a:bodyPr>
          <a:lstStyle/>
          <a:p>
            <a:pPr algn="ctr">
              <a:defRPr sz="4200" b="1">
                <a:solidFill>
                  <a:srgbClr val="EF4444"/>
                </a:solidFill>
                <a:latin typeface="Calibri"/>
              </a:defRPr>
            </a:pPr>
            <a:r>
              <a:t>6</a:t>
            </a:r>
          </a:p>
        </p:txBody>
      </p:sp>
      <p:sp>
        <p:nvSpPr>
          <p:cNvPr id="11" name="TextBox 10"/>
          <p:cNvSpPr txBox="1"/>
          <p:nvPr/>
        </p:nvSpPr>
        <p:spPr>
          <a:xfrm>
            <a:off x="4114800" y="2377440"/>
            <a:ext cx="2011680" cy="365760"/>
          </a:xfrm>
          <a:prstGeom prst="rect">
            <a:avLst/>
          </a:prstGeom>
          <a:noFill/>
        </p:spPr>
        <p:txBody>
          <a:bodyPr wrap="square">
            <a:spAutoFit/>
          </a:bodyPr>
          <a:lstStyle/>
          <a:p>
            <a:pPr algn="ctr">
              <a:defRPr sz="1400" b="0">
                <a:solidFill>
                  <a:srgbClr val="94A3B8"/>
                </a:solidFill>
                <a:latin typeface="Calibri"/>
              </a:defRPr>
            </a:pPr>
            <a:r>
              <a:t>Kritiska</a:t>
            </a:r>
          </a:p>
        </p:txBody>
      </p:sp>
      <p:sp>
        <p:nvSpPr>
          <p:cNvPr id="12" name="Rounded Rectangle 11"/>
          <p:cNvSpPr/>
          <p:nvPr/>
        </p:nvSpPr>
        <p:spPr>
          <a:xfrm>
            <a:off x="6400800" y="1645920"/>
            <a:ext cx="2011680" cy="12801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83080"/>
            <a:ext cx="2011680" cy="640080"/>
          </a:xfrm>
          <a:prstGeom prst="rect">
            <a:avLst/>
          </a:prstGeom>
          <a:noFill/>
        </p:spPr>
        <p:txBody>
          <a:bodyPr wrap="square">
            <a:spAutoFit/>
          </a:bodyPr>
          <a:lstStyle/>
          <a:p>
            <a:pPr algn="ctr">
              <a:defRPr sz="4200" b="1">
                <a:solidFill>
                  <a:srgbClr val="F59E0B"/>
                </a:solidFill>
                <a:latin typeface="Calibri"/>
              </a:defRPr>
            </a:pPr>
            <a:r>
              <a:t>8</a:t>
            </a:r>
          </a:p>
        </p:txBody>
      </p:sp>
      <p:sp>
        <p:nvSpPr>
          <p:cNvPr id="14" name="TextBox 13"/>
          <p:cNvSpPr txBox="1"/>
          <p:nvPr/>
        </p:nvSpPr>
        <p:spPr>
          <a:xfrm>
            <a:off x="6400800" y="2377440"/>
            <a:ext cx="2011680" cy="365760"/>
          </a:xfrm>
          <a:prstGeom prst="rect">
            <a:avLst/>
          </a:prstGeom>
          <a:noFill/>
        </p:spPr>
        <p:txBody>
          <a:bodyPr wrap="square">
            <a:spAutoFit/>
          </a:bodyPr>
          <a:lstStyle/>
          <a:p>
            <a:pPr algn="ctr">
              <a:defRPr sz="1400" b="0">
                <a:solidFill>
                  <a:srgbClr val="94A3B8"/>
                </a:solidFill>
                <a:latin typeface="Calibri"/>
              </a:defRPr>
            </a:pPr>
            <a:r>
              <a:t>Varningar</a:t>
            </a:r>
          </a:p>
        </p:txBody>
      </p:sp>
      <p:sp>
        <p:nvSpPr>
          <p:cNvPr id="15" name="Rounded Rectangle 14"/>
          <p:cNvSpPr/>
          <p:nvPr/>
        </p:nvSpPr>
        <p:spPr>
          <a:xfrm>
            <a:off x="8686800" y="1645920"/>
            <a:ext cx="2011680" cy="12801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0" y="1783080"/>
            <a:ext cx="2011680" cy="640080"/>
          </a:xfrm>
          <a:prstGeom prst="rect">
            <a:avLst/>
          </a:prstGeom>
          <a:noFill/>
        </p:spPr>
        <p:txBody>
          <a:bodyPr wrap="square">
            <a:spAutoFit/>
          </a:bodyPr>
          <a:lstStyle/>
          <a:p>
            <a:pPr algn="ctr">
              <a:defRPr sz="4200" b="1">
                <a:solidFill>
                  <a:srgbClr val="00D4FF"/>
                </a:solidFill>
                <a:latin typeface="Calibri"/>
              </a:defRPr>
            </a:pPr>
            <a:r>
              <a:t>14</a:t>
            </a:r>
          </a:p>
        </p:txBody>
      </p:sp>
      <p:sp>
        <p:nvSpPr>
          <p:cNvPr id="17" name="TextBox 16"/>
          <p:cNvSpPr txBox="1"/>
          <p:nvPr/>
        </p:nvSpPr>
        <p:spPr>
          <a:xfrm>
            <a:off x="8686800" y="2377440"/>
            <a:ext cx="2011680" cy="365760"/>
          </a:xfrm>
          <a:prstGeom prst="rect">
            <a:avLst/>
          </a:prstGeom>
          <a:noFill/>
        </p:spPr>
        <p:txBody>
          <a:bodyPr wrap="square">
            <a:spAutoFit/>
          </a:bodyPr>
          <a:lstStyle/>
          <a:p>
            <a:pPr algn="ctr">
              <a:defRPr sz="1400" b="0">
                <a:solidFill>
                  <a:srgbClr val="94A3B8"/>
                </a:solidFill>
                <a:latin typeface="Calibri"/>
              </a:defRPr>
            </a:pPr>
            <a:r>
              <a:t>Totalt</a:t>
            </a:r>
          </a:p>
        </p:txBody>
      </p:sp>
      <p:sp>
        <p:nvSpPr>
          <p:cNvPr id="18" name="Rounded Rectangle 17"/>
          <p:cNvSpPr/>
          <p:nvPr/>
        </p:nvSpPr>
        <p:spPr>
          <a:xfrm>
            <a:off x="4114800" y="3200400"/>
            <a:ext cx="2011680" cy="12801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0" y="3337560"/>
            <a:ext cx="2011680" cy="640080"/>
          </a:xfrm>
          <a:prstGeom prst="rect">
            <a:avLst/>
          </a:prstGeom>
          <a:noFill/>
        </p:spPr>
        <p:txBody>
          <a:bodyPr wrap="square">
            <a:spAutoFit/>
          </a:bodyPr>
          <a:lstStyle/>
          <a:p>
            <a:pPr algn="ctr">
              <a:defRPr sz="3800" b="1">
                <a:solidFill>
                  <a:srgbClr val="F59E0B"/>
                </a:solidFill>
                <a:latin typeface="Calibri"/>
              </a:defRPr>
            </a:pPr>
            <a:r>
              <a:t>62</a:t>
            </a:r>
          </a:p>
        </p:txBody>
      </p:sp>
      <p:sp>
        <p:nvSpPr>
          <p:cNvPr id="20" name="TextBox 19"/>
          <p:cNvSpPr txBox="1"/>
          <p:nvPr/>
        </p:nvSpPr>
        <p:spPr>
          <a:xfrm>
            <a:off x="4114800" y="3931920"/>
            <a:ext cx="2011680" cy="365760"/>
          </a:xfrm>
          <a:prstGeom prst="rect">
            <a:avLst/>
          </a:prstGeom>
          <a:noFill/>
        </p:spPr>
        <p:txBody>
          <a:bodyPr wrap="square">
            <a:spAutoFit/>
          </a:bodyPr>
          <a:lstStyle/>
          <a:p>
            <a:pPr algn="ctr">
              <a:defRPr sz="1200" b="0">
                <a:solidFill>
                  <a:srgbClr val="94A3B8"/>
                </a:solidFill>
                <a:latin typeface="Calibri"/>
              </a:defRPr>
            </a:pPr>
            <a:r>
              <a:t>Mobil PageSpeed</a:t>
            </a:r>
          </a:p>
        </p:txBody>
      </p:sp>
      <p:sp>
        <p:nvSpPr>
          <p:cNvPr id="21" name="Rounded Rectangle 20"/>
          <p:cNvSpPr/>
          <p:nvPr/>
        </p:nvSpPr>
        <p:spPr>
          <a:xfrm>
            <a:off x="6400800" y="3200400"/>
            <a:ext cx="2011680" cy="12801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337560"/>
            <a:ext cx="2011680" cy="640080"/>
          </a:xfrm>
          <a:prstGeom prst="rect">
            <a:avLst/>
          </a:prstGeom>
          <a:noFill/>
        </p:spPr>
        <p:txBody>
          <a:bodyPr wrap="square">
            <a:spAutoFit/>
          </a:bodyPr>
          <a:lstStyle/>
          <a:p>
            <a:pPr algn="ctr">
              <a:defRPr sz="3800" b="1">
                <a:solidFill>
                  <a:srgbClr val="00E676"/>
                </a:solidFill>
                <a:latin typeface="Calibri"/>
              </a:defRPr>
            </a:pPr>
            <a:r>
              <a:t>83</a:t>
            </a:r>
          </a:p>
        </p:txBody>
      </p:sp>
      <p:sp>
        <p:nvSpPr>
          <p:cNvPr id="23" name="TextBox 22"/>
          <p:cNvSpPr txBox="1"/>
          <p:nvPr/>
        </p:nvSpPr>
        <p:spPr>
          <a:xfrm>
            <a:off x="6400800" y="3931920"/>
            <a:ext cx="2011680" cy="365760"/>
          </a:xfrm>
          <a:prstGeom prst="rect">
            <a:avLst/>
          </a:prstGeom>
          <a:noFill/>
        </p:spPr>
        <p:txBody>
          <a:bodyPr wrap="square">
            <a:spAutoFit/>
          </a:bodyPr>
          <a:lstStyle/>
          <a:p>
            <a:pPr algn="ctr">
              <a:defRPr sz="1200" b="0">
                <a:solidFill>
                  <a:srgbClr val="94A3B8"/>
                </a:solidFill>
                <a:latin typeface="Calibri"/>
              </a:defRPr>
            </a:pPr>
            <a:r>
              <a:t>Desktop PageSpeed</a:t>
            </a:r>
          </a:p>
        </p:txBody>
      </p:sp>
      <p:sp>
        <p:nvSpPr>
          <p:cNvPr id="24" name="Rounded Rectangle 23"/>
          <p:cNvSpPr/>
          <p:nvPr/>
        </p:nvSpPr>
        <p:spPr>
          <a:xfrm>
            <a:off x="4114800" y="4754880"/>
            <a:ext cx="7315200" cy="1828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0" y="4937760"/>
            <a:ext cx="6858000" cy="1554480"/>
          </a:xfrm>
          <a:prstGeom prst="rect">
            <a:avLst/>
          </a:prstGeom>
          <a:noFill/>
        </p:spPr>
        <p:txBody>
          <a:bodyPr wrap="square">
            <a:spAutoFit/>
          </a:bodyPr>
          <a:lstStyle/>
          <a:p>
            <a:pPr algn="l">
              <a:defRPr sz="1300" b="0">
                <a:solidFill>
                  <a:srgbClr val="FFFFFF"/>
                </a:solidFill>
                <a:latin typeface="Calibri"/>
              </a:defRPr>
            </a:pPr>
            <a:r>
              <a:t>nordicsnusonline.com är en mycket stor och innehållsintensiv e-handelsplattform med ett brett sortiment av produkter, varumärken och filtreringsmöjligheter. Webbplatsens omfattning ger stark potential för organisk synlighet, men analysen visar att teknisk komplexitet, indexeringsproblem och omfattande duplicering kraftigt begränsar sökmotorernas möjlighet att tolka och prioritera innehållet. För att nå full SEO-potential krävs tydlig teknisk sanering, strikt indexeringsstrategi och bättre kontro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457200"/>
          </a:xfrm>
          <a:prstGeom prst="rect">
            <a:avLst/>
          </a:prstGeom>
          <a:noFill/>
        </p:spPr>
        <p:txBody>
          <a:bodyPr wrap="square">
            <a:spAutoFit/>
          </a:bodyPr>
          <a:lstStyle/>
          <a:p>
            <a:pPr algn="l">
              <a:defRPr sz="1400" b="1">
                <a:solidFill>
                  <a:srgbClr val="E91E8C"/>
                </a:solidFill>
                <a:latin typeface="Calibri"/>
              </a:defRPr>
            </a:pPr>
            <a:r>
              <a:t>Identifierade problem</a:t>
            </a:r>
          </a:p>
        </p:txBody>
      </p:sp>
      <p:sp>
        <p:nvSpPr>
          <p:cNvPr id="4" name="TextBox 3"/>
          <p:cNvSpPr txBox="1"/>
          <p:nvPr/>
        </p:nvSpPr>
        <p:spPr>
          <a:xfrm>
            <a:off x="731520" y="822960"/>
            <a:ext cx="10058400" cy="548640"/>
          </a:xfrm>
          <a:prstGeom prst="rect">
            <a:avLst/>
          </a:prstGeom>
          <a:noFill/>
        </p:spPr>
        <p:txBody>
          <a:bodyPr wrap="square">
            <a:spAutoFit/>
          </a:bodyPr>
          <a:lstStyle/>
          <a:p>
            <a:pPr algn="l">
              <a:defRPr sz="3200" b="1">
                <a:solidFill>
                  <a:srgbClr val="FFFFFF"/>
                </a:solidFill>
                <a:latin typeface="Calibri"/>
              </a:defRPr>
            </a:pPr>
            <a:r>
              <a:t>Vad hindrar er synlighet i Google?</a:t>
            </a:r>
          </a:p>
        </p:txBody>
      </p:sp>
      <p:sp>
        <p:nvSpPr>
          <p:cNvPr id="5" name="Rounded Rectangle 4"/>
          <p:cNvSpPr/>
          <p:nvPr/>
        </p:nvSpPr>
        <p:spPr>
          <a:xfrm>
            <a:off x="548640" y="1645920"/>
            <a:ext cx="530352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4846320" cy="365760"/>
          </a:xfrm>
          <a:prstGeom prst="rect">
            <a:avLst/>
          </a:prstGeom>
          <a:noFill/>
        </p:spPr>
        <p:txBody>
          <a:bodyPr wrap="square">
            <a:spAutoFit/>
          </a:bodyPr>
          <a:lstStyle/>
          <a:p>
            <a:pPr algn="l">
              <a:defRPr sz="1800" b="1">
                <a:solidFill>
                  <a:srgbClr val="EF4444"/>
                </a:solidFill>
                <a:latin typeface="Calibri"/>
              </a:defRPr>
            </a:pPr>
            <a:r>
              <a:t>Kritiska problem</a:t>
            </a:r>
          </a:p>
        </p:txBody>
      </p:sp>
      <p:sp>
        <p:nvSpPr>
          <p:cNvPr id="7" name="Rectangle 6"/>
          <p:cNvSpPr/>
          <p:nvPr/>
        </p:nvSpPr>
        <p:spPr>
          <a:xfrm>
            <a:off x="822960" y="2286000"/>
            <a:ext cx="1828800" cy="36576"/>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4846320" cy="3657600"/>
          </a:xfrm>
          <a:prstGeom prst="rect">
            <a:avLst/>
          </a:prstGeom>
          <a:noFill/>
        </p:spPr>
        <p:txBody>
          <a:bodyPr wrap="square">
            <a:spAutoFit/>
          </a:bodyPr>
          <a:lstStyle/>
          <a:p>
            <a:pPr>
              <a:spcAft>
                <a:spcPts val="600"/>
              </a:spcAft>
              <a:defRPr sz="1300">
                <a:solidFill>
                  <a:srgbClr val="FFFFFF"/>
                </a:solidFill>
                <a:latin typeface="Calibri"/>
              </a:defRPr>
            </a:pPr>
            <a:r>
              <a:t>▸ Över 600 sidor blockerade av noindex och nofollow</a:t>
            </a:r>
          </a:p>
          <a:p>
            <a:pPr>
              <a:spcAft>
                <a:spcPts val="600"/>
              </a:spcAft>
              <a:defRPr sz="1300">
                <a:solidFill>
                  <a:srgbClr val="FFFFFF"/>
                </a:solidFill>
                <a:latin typeface="Calibri"/>
              </a:defRPr>
            </a:pPr>
            <a:r>
              <a:t>▸ Filter-URL:er skapar extrem mängd duplicerade sidor</a:t>
            </a:r>
          </a:p>
          <a:p>
            <a:pPr>
              <a:spcAft>
                <a:spcPts val="600"/>
              </a:spcAft>
              <a:defRPr sz="1300">
                <a:solidFill>
                  <a:srgbClr val="FFFFFF"/>
                </a:solidFill>
                <a:latin typeface="Calibri"/>
              </a:defRPr>
            </a:pPr>
            <a:r>
              <a:t>▸ Stort antal sidor returnerar 4XX-status (sidor och bilder)</a:t>
            </a:r>
          </a:p>
          <a:p>
            <a:pPr>
              <a:spcAft>
                <a:spcPts val="600"/>
              </a:spcAft>
              <a:defRPr sz="1300">
                <a:solidFill>
                  <a:srgbClr val="FFFFFF"/>
                </a:solidFill>
                <a:latin typeface="Calibri"/>
              </a:defRPr>
            </a:pPr>
            <a:r>
              <a:t>▸ Redirects utan tydlig struktur</a:t>
            </a:r>
          </a:p>
          <a:p>
            <a:pPr>
              <a:spcAft>
                <a:spcPts val="600"/>
              </a:spcAft>
              <a:defRPr sz="1300">
                <a:solidFill>
                  <a:srgbClr val="FFFFFF"/>
                </a:solidFill>
                <a:latin typeface="Calibri"/>
              </a:defRPr>
            </a:pPr>
            <a:r>
              <a:t>▸ Canonical-hantering otydlig på filtrerade URL:er</a:t>
            </a:r>
          </a:p>
          <a:p>
            <a:pPr>
              <a:spcAft>
                <a:spcPts val="600"/>
              </a:spcAft>
              <a:defRPr sz="1300">
                <a:solidFill>
                  <a:srgbClr val="FFFFFF"/>
                </a:solidFill>
                <a:latin typeface="Calibri"/>
              </a:defRPr>
            </a:pPr>
            <a:r>
              <a:t>▸ Nästan identiska kategorisidor skapar keyword cannibalization</a:t>
            </a:r>
          </a:p>
        </p:txBody>
      </p:sp>
      <p:sp>
        <p:nvSpPr>
          <p:cNvPr id="9" name="Rounded Rectangle 8"/>
          <p:cNvSpPr/>
          <p:nvPr/>
        </p:nvSpPr>
        <p:spPr>
          <a:xfrm>
            <a:off x="6217920" y="1645920"/>
            <a:ext cx="530352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828800"/>
            <a:ext cx="4846320" cy="365760"/>
          </a:xfrm>
          <a:prstGeom prst="rect">
            <a:avLst/>
          </a:prstGeom>
          <a:noFill/>
        </p:spPr>
        <p:txBody>
          <a:bodyPr wrap="square">
            <a:spAutoFit/>
          </a:bodyPr>
          <a:lstStyle/>
          <a:p>
            <a:pPr algn="l">
              <a:defRPr sz="1800" b="1">
                <a:solidFill>
                  <a:srgbClr val="F59E0B"/>
                </a:solidFill>
                <a:latin typeface="Calibri"/>
              </a:defRPr>
            </a:pPr>
            <a:r>
              <a:t>Varningar</a:t>
            </a:r>
          </a:p>
        </p:txBody>
      </p:sp>
      <p:sp>
        <p:nvSpPr>
          <p:cNvPr id="11" name="Rectangle 10"/>
          <p:cNvSpPr/>
          <p:nvPr/>
        </p:nvSpPr>
        <p:spPr>
          <a:xfrm>
            <a:off x="6492240" y="2286000"/>
            <a:ext cx="1828800" cy="36576"/>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468880"/>
            <a:ext cx="4846320" cy="3657600"/>
          </a:xfrm>
          <a:prstGeom prst="rect">
            <a:avLst/>
          </a:prstGeom>
          <a:noFill/>
        </p:spPr>
        <p:txBody>
          <a:bodyPr wrap="square">
            <a:spAutoFit/>
          </a:bodyPr>
          <a:lstStyle/>
          <a:p>
            <a:pPr>
              <a:spcAft>
                <a:spcPts val="600"/>
              </a:spcAft>
              <a:defRPr sz="1300">
                <a:solidFill>
                  <a:srgbClr val="FFFFFF"/>
                </a:solidFill>
                <a:latin typeface="Calibri"/>
              </a:defRPr>
            </a:pPr>
            <a:r>
              <a:t>▸ 242 sidor har för långa sidtitlar</a:t>
            </a:r>
          </a:p>
          <a:p>
            <a:pPr>
              <a:spcAft>
                <a:spcPts val="600"/>
              </a:spcAft>
              <a:defRPr sz="1300">
                <a:solidFill>
                  <a:srgbClr val="FFFFFF"/>
                </a:solidFill>
                <a:latin typeface="Calibri"/>
              </a:defRPr>
            </a:pPr>
            <a:r>
              <a:t>▸ 8 sidor har duplicerade titlar</a:t>
            </a:r>
          </a:p>
          <a:p>
            <a:pPr>
              <a:spcAft>
                <a:spcPts val="600"/>
              </a:spcAft>
              <a:defRPr sz="1300">
                <a:solidFill>
                  <a:srgbClr val="FFFFFF"/>
                </a:solidFill>
                <a:latin typeface="Calibri"/>
              </a:defRPr>
            </a:pPr>
            <a:r>
              <a:t>▸ 5 sidor saknar meta description</a:t>
            </a:r>
          </a:p>
          <a:p>
            <a:pPr>
              <a:spcAft>
                <a:spcPts val="600"/>
              </a:spcAft>
              <a:defRPr sz="1300">
                <a:solidFill>
                  <a:srgbClr val="FFFFFF"/>
                </a:solidFill>
                <a:latin typeface="Calibri"/>
              </a:defRPr>
            </a:pPr>
            <a:r>
              <a:t>▸ 12 sidor har duplicerade meta descriptions</a:t>
            </a:r>
          </a:p>
          <a:p>
            <a:pPr>
              <a:spcAft>
                <a:spcPts val="600"/>
              </a:spcAft>
              <a:defRPr sz="1300">
                <a:solidFill>
                  <a:srgbClr val="FFFFFF"/>
                </a:solidFill>
                <a:latin typeface="Calibri"/>
              </a:defRPr>
            </a:pPr>
            <a:r>
              <a:t>▸ 82 sidor har för långa meta descriptions</a:t>
            </a:r>
          </a:p>
          <a:p>
            <a:pPr>
              <a:spcAft>
                <a:spcPts val="600"/>
              </a:spcAft>
              <a:defRPr sz="1300">
                <a:solidFill>
                  <a:srgbClr val="FFFFFF"/>
                </a:solidFill>
                <a:latin typeface="Calibri"/>
              </a:defRPr>
            </a:pPr>
            <a:r>
              <a:t>▸ 41 sidor saknar H1-tagg</a:t>
            </a:r>
          </a:p>
          <a:p>
            <a:pPr>
              <a:spcAft>
                <a:spcPts val="600"/>
              </a:spcAft>
              <a:defRPr sz="1300">
                <a:solidFill>
                  <a:srgbClr val="FFFFFF"/>
                </a:solidFill>
                <a:latin typeface="Calibri"/>
              </a:defRPr>
            </a:pPr>
            <a:r>
              <a:t>▸ Kategorier och varumärkessidor saknar tydlig H1-struktur</a:t>
            </a:r>
          </a:p>
          <a:p>
            <a:pPr>
              <a:spcAft>
                <a:spcPts val="600"/>
              </a:spcAft>
              <a:defRPr sz="1300">
                <a:solidFill>
                  <a:srgbClr val="FFFFFF"/>
                </a:solidFill>
                <a:latin typeface="Calibri"/>
              </a:defRPr>
            </a:pPr>
            <a:r>
              <a:t>▸ Bilder med 4XX-status på minst 41 URL:er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457200"/>
          </a:xfrm>
          <a:prstGeom prst="rect">
            <a:avLst/>
          </a:prstGeom>
          <a:noFill/>
        </p:spPr>
        <p:txBody>
          <a:bodyPr wrap="square">
            <a:spAutoFit/>
          </a:bodyPr>
          <a:lstStyle/>
          <a:p>
            <a:pPr algn="l">
              <a:defRPr sz="1400" b="1">
                <a:solidFill>
                  <a:srgbClr val="E91E8C"/>
                </a:solidFill>
                <a:latin typeface="Calibri"/>
              </a:defRPr>
            </a:pPr>
            <a:r>
              <a:t>Åtgärdsplan</a:t>
            </a:r>
          </a:p>
        </p:txBody>
      </p:sp>
      <p:sp>
        <p:nvSpPr>
          <p:cNvPr id="4" name="TextBox 3"/>
          <p:cNvSpPr txBox="1"/>
          <p:nvPr/>
        </p:nvSpPr>
        <p:spPr>
          <a:xfrm>
            <a:off x="731520" y="822960"/>
            <a:ext cx="10058400" cy="548640"/>
          </a:xfrm>
          <a:prstGeom prst="rect">
            <a:avLst/>
          </a:prstGeom>
          <a:noFill/>
        </p:spPr>
        <p:txBody>
          <a:bodyPr wrap="square">
            <a:spAutoFit/>
          </a:bodyPr>
          <a:lstStyle/>
          <a:p>
            <a:pPr algn="l">
              <a:defRPr sz="3200" b="1">
                <a:solidFill>
                  <a:srgbClr val="FFFFFF"/>
                </a:solidFill>
                <a:latin typeface="Calibri"/>
              </a:defRPr>
            </a:pPr>
            <a:r>
              <a:t>Hög prioritet — Måste åtgärdas</a:t>
            </a:r>
          </a:p>
        </p:txBody>
      </p:sp>
      <p:sp>
        <p:nvSpPr>
          <p:cNvPr id="5" name="Rounded Rectangle 4"/>
          <p:cNvSpPr/>
          <p:nvPr/>
        </p:nvSpPr>
        <p:spPr>
          <a:xfrm>
            <a:off x="548640" y="1645920"/>
            <a:ext cx="10972800" cy="47548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10058400" cy="365760"/>
          </a:xfrm>
          <a:prstGeom prst="rect">
            <a:avLst/>
          </a:prstGeom>
          <a:noFill/>
        </p:spPr>
        <p:txBody>
          <a:bodyPr wrap="square">
            <a:spAutoFit/>
          </a:bodyPr>
          <a:lstStyle/>
          <a:p>
            <a:pPr algn="l">
              <a:defRPr sz="1600" b="0">
                <a:solidFill>
                  <a:srgbClr val="00D4FF"/>
                </a:solidFill>
                <a:latin typeface="Calibri"/>
              </a:defRPr>
            </a:pPr>
            <a:r>
              <a:t>Dessa åtgärder ger störst effekt på er synlighet</a:t>
            </a:r>
          </a:p>
        </p:txBody>
      </p:sp>
      <p:sp>
        <p:nvSpPr>
          <p:cNvPr id="7" name="TextBox 6"/>
          <p:cNvSpPr txBox="1"/>
          <p:nvPr/>
        </p:nvSpPr>
        <p:spPr>
          <a:xfrm>
            <a:off x="822960" y="2377440"/>
            <a:ext cx="10058400" cy="3840480"/>
          </a:xfrm>
          <a:prstGeom prst="rect">
            <a:avLst/>
          </a:prstGeom>
          <a:noFill/>
        </p:spPr>
        <p:txBody>
          <a:bodyPr wrap="square">
            <a:spAutoFit/>
          </a:bodyPr>
          <a:lstStyle/>
          <a:p>
            <a:pPr>
              <a:spcAft>
                <a:spcPts val="600"/>
              </a:spcAft>
              <a:defRPr sz="1700">
                <a:solidFill>
                  <a:srgbClr val="FFFFFF"/>
                </a:solidFill>
                <a:latin typeface="Calibri"/>
              </a:defRPr>
            </a:pPr>
            <a:r>
              <a:t>1. Definiera en tydlig indexeringsstrategi</a:t>
            </a:r>
          </a:p>
          <a:p>
            <a:pPr>
              <a:spcAft>
                <a:spcPts val="600"/>
              </a:spcAft>
              <a:defRPr sz="1700">
                <a:solidFill>
                  <a:srgbClr val="FFFFFF"/>
                </a:solidFill>
                <a:latin typeface="Calibri"/>
              </a:defRPr>
            </a:pPr>
            <a:r>
              <a:t>2. Bestäm vilka filter-URL:er som ska indexeras och vilka som ska blockeras</a:t>
            </a:r>
          </a:p>
          <a:p>
            <a:pPr>
              <a:spcAft>
                <a:spcPts val="600"/>
              </a:spcAft>
              <a:defRPr sz="1700">
                <a:solidFill>
                  <a:srgbClr val="FFFFFF"/>
                </a:solidFill>
                <a:latin typeface="Calibri"/>
              </a:defRPr>
            </a:pPr>
            <a:r>
              <a:t>3. Rensa bort onödiga noindex/nofollow-regler som blockerar viktiga sidor</a:t>
            </a:r>
          </a:p>
          <a:p>
            <a:pPr>
              <a:spcAft>
                <a:spcPts val="600"/>
              </a:spcAft>
              <a:defRPr sz="1700">
                <a:solidFill>
                  <a:srgbClr val="FFFFFF"/>
                </a:solidFill>
                <a:latin typeface="Calibri"/>
              </a:defRPr>
            </a:pPr>
            <a:r>
              <a:t>4. Åtgärda alla 4XX-sidor och 4XX-bilder</a:t>
            </a:r>
          </a:p>
          <a:p>
            <a:pPr>
              <a:spcAft>
                <a:spcPts val="600"/>
              </a:spcAft>
              <a:defRPr sz="1700">
                <a:solidFill>
                  <a:srgbClr val="FFFFFF"/>
                </a:solidFill>
                <a:latin typeface="Calibri"/>
              </a:defRPr>
            </a:pPr>
            <a:r>
              <a:t>5. Säkerställ att canonical-taggar pekar på rätt huvudversion</a:t>
            </a:r>
          </a:p>
          <a:p>
            <a:pPr>
              <a:spcAft>
                <a:spcPts val="600"/>
              </a:spcAft>
              <a:defRPr sz="1700">
                <a:solidFill>
                  <a:srgbClr val="FFFFFF"/>
                </a:solidFill>
                <a:latin typeface="Calibri"/>
              </a:defRPr>
            </a:pPr>
            <a:r>
              <a:t>6. Strukturera om sidtitlar för att minska längd och duplicering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457200"/>
          </a:xfrm>
          <a:prstGeom prst="rect">
            <a:avLst/>
          </a:prstGeom>
          <a:noFill/>
        </p:spPr>
        <p:txBody>
          <a:bodyPr wrap="square">
            <a:spAutoFit/>
          </a:bodyPr>
          <a:lstStyle/>
          <a:p>
            <a:pPr algn="l">
              <a:defRPr sz="1400" b="1">
                <a:solidFill>
                  <a:srgbClr val="E91E8C"/>
                </a:solidFill>
                <a:latin typeface="Calibri"/>
              </a:defRPr>
            </a:pPr>
            <a:r>
              <a:t>Åtgärdsplan — Fortsättning</a:t>
            </a:r>
          </a:p>
        </p:txBody>
      </p:sp>
      <p:sp>
        <p:nvSpPr>
          <p:cNvPr id="4" name="TextBox 3"/>
          <p:cNvSpPr txBox="1"/>
          <p:nvPr/>
        </p:nvSpPr>
        <p:spPr>
          <a:xfrm>
            <a:off x="731520" y="822960"/>
            <a:ext cx="10058400" cy="548640"/>
          </a:xfrm>
          <a:prstGeom prst="rect">
            <a:avLst/>
          </a:prstGeom>
          <a:noFill/>
        </p:spPr>
        <p:txBody>
          <a:bodyPr wrap="square">
            <a:spAutoFit/>
          </a:bodyPr>
          <a:lstStyle/>
          <a:p>
            <a:pPr algn="l">
              <a:defRPr sz="3200" b="1">
                <a:solidFill>
                  <a:srgbClr val="FFFFFF"/>
                </a:solidFill>
                <a:latin typeface="Calibri"/>
              </a:defRPr>
            </a:pPr>
            <a:r>
              <a:t>Medel &amp; Långsiktig prioritet</a:t>
            </a:r>
          </a:p>
        </p:txBody>
      </p:sp>
      <p:sp>
        <p:nvSpPr>
          <p:cNvPr id="5" name="Rounded Rectangle 4"/>
          <p:cNvSpPr/>
          <p:nvPr/>
        </p:nvSpPr>
        <p:spPr>
          <a:xfrm>
            <a:off x="548640" y="1645920"/>
            <a:ext cx="5303520" cy="2743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4846320" cy="365760"/>
          </a:xfrm>
          <a:prstGeom prst="rect">
            <a:avLst/>
          </a:prstGeom>
          <a:noFill/>
        </p:spPr>
        <p:txBody>
          <a:bodyPr wrap="square">
            <a:spAutoFit/>
          </a:bodyPr>
          <a:lstStyle/>
          <a:p>
            <a:pPr algn="l">
              <a:defRPr sz="1800" b="1">
                <a:solidFill>
                  <a:srgbClr val="F59E0B"/>
                </a:solidFill>
                <a:latin typeface="Calibri"/>
              </a:defRPr>
            </a:pPr>
            <a:r>
              <a:t>Medel prioritet</a:t>
            </a:r>
          </a:p>
        </p:txBody>
      </p:sp>
      <p:sp>
        <p:nvSpPr>
          <p:cNvPr id="7" name="Rectangle 6"/>
          <p:cNvSpPr/>
          <p:nvPr/>
        </p:nvSpPr>
        <p:spPr>
          <a:xfrm>
            <a:off x="822960" y="2286000"/>
            <a:ext cx="1828800" cy="36576"/>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4846320" cy="2286000"/>
          </a:xfrm>
          <a:prstGeom prst="rect">
            <a:avLst/>
          </a:prstGeom>
          <a:noFill/>
        </p:spPr>
        <p:txBody>
          <a:bodyPr wrap="square">
            <a:spAutoFit/>
          </a:bodyPr>
          <a:lstStyle/>
          <a:p>
            <a:pPr>
              <a:spcAft>
                <a:spcPts val="600"/>
              </a:spcAft>
              <a:defRPr sz="1400">
                <a:solidFill>
                  <a:srgbClr val="FFFFFF"/>
                </a:solidFill>
                <a:latin typeface="Calibri"/>
              </a:defRPr>
            </a:pPr>
            <a:r>
              <a:t>▸ Skapa unika H1-taggar för alla kategorier och varumärken</a:t>
            </a:r>
          </a:p>
          <a:p>
            <a:pPr>
              <a:spcAft>
                <a:spcPts val="600"/>
              </a:spcAft>
              <a:defRPr sz="1400">
                <a:solidFill>
                  <a:srgbClr val="FFFFFF"/>
                </a:solidFill>
                <a:latin typeface="Calibri"/>
              </a:defRPr>
            </a:pPr>
            <a:r>
              <a:t>▸ Optimera meta descriptions — ta bort duplicering</a:t>
            </a:r>
          </a:p>
          <a:p>
            <a:pPr>
              <a:spcAft>
                <a:spcPts val="600"/>
              </a:spcAft>
              <a:defRPr sz="1400">
                <a:solidFill>
                  <a:srgbClr val="FFFFFF"/>
                </a:solidFill>
                <a:latin typeface="Calibri"/>
              </a:defRPr>
            </a:pPr>
            <a:r>
              <a:t>▸ Anpassa längd och säljande formulering</a:t>
            </a:r>
          </a:p>
          <a:p>
            <a:pPr>
              <a:spcAft>
                <a:spcPts val="600"/>
              </a:spcAft>
              <a:defRPr sz="1400">
                <a:solidFill>
                  <a:srgbClr val="FFFFFF"/>
                </a:solidFill>
                <a:latin typeface="Calibri"/>
              </a:defRPr>
            </a:pPr>
            <a:r>
              <a:t>▸ Konsolidera liknande kategorier och filtrerade vyer</a:t>
            </a:r>
          </a:p>
          <a:p>
            <a:pPr>
              <a:spcAft>
                <a:spcPts val="600"/>
              </a:spcAft>
              <a:defRPr sz="1400">
                <a:solidFill>
                  <a:srgbClr val="FFFFFF"/>
                </a:solidFill>
                <a:latin typeface="Calibri"/>
              </a:defRPr>
            </a:pPr>
            <a:r>
              <a:t>▸ Förbättra internlänkning mellan huvudkategorier och produkter</a:t>
            </a:r>
          </a:p>
          <a:p>
            <a:pPr>
              <a:spcAft>
                <a:spcPts val="600"/>
              </a:spcAft>
              <a:defRPr sz="1400">
                <a:solidFill>
                  <a:srgbClr val="FFFFFF"/>
                </a:solidFill>
                <a:latin typeface="Calibri"/>
              </a:defRPr>
            </a:pPr>
            <a:r>
              <a:t>▸ Säkerställ att viktiga sidor inte hamnar bakom filter-parametrar</a:t>
            </a:r>
          </a:p>
        </p:txBody>
      </p:sp>
      <p:sp>
        <p:nvSpPr>
          <p:cNvPr id="9" name="Rounded Rectangle 8"/>
          <p:cNvSpPr/>
          <p:nvPr/>
        </p:nvSpPr>
        <p:spPr>
          <a:xfrm>
            <a:off x="6217920" y="1645920"/>
            <a:ext cx="5303520" cy="2743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828800"/>
            <a:ext cx="4754880" cy="365760"/>
          </a:xfrm>
          <a:prstGeom prst="rect">
            <a:avLst/>
          </a:prstGeom>
          <a:noFill/>
        </p:spPr>
        <p:txBody>
          <a:bodyPr wrap="square">
            <a:spAutoFit/>
          </a:bodyPr>
          <a:lstStyle/>
          <a:p>
            <a:pPr algn="l">
              <a:defRPr sz="1800" b="1">
                <a:solidFill>
                  <a:srgbClr val="7C4DFF"/>
                </a:solidFill>
                <a:latin typeface="Calibri"/>
              </a:defRPr>
            </a:pPr>
            <a:r>
              <a:t>Långsiktigt</a:t>
            </a:r>
          </a:p>
        </p:txBody>
      </p:sp>
      <p:sp>
        <p:nvSpPr>
          <p:cNvPr id="11" name="Rectangle 10"/>
          <p:cNvSpPr/>
          <p:nvPr/>
        </p:nvSpPr>
        <p:spPr>
          <a:xfrm>
            <a:off x="6492240" y="2286000"/>
            <a:ext cx="1828800" cy="36576"/>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468880"/>
            <a:ext cx="4754880" cy="1828800"/>
          </a:xfrm>
          <a:prstGeom prst="rect">
            <a:avLst/>
          </a:prstGeom>
          <a:noFill/>
        </p:spPr>
        <p:txBody>
          <a:bodyPr wrap="square">
            <a:spAutoFit/>
          </a:bodyPr>
          <a:lstStyle/>
          <a:p>
            <a:pPr>
              <a:spcAft>
                <a:spcPts val="600"/>
              </a:spcAft>
              <a:defRPr sz="1400">
                <a:solidFill>
                  <a:srgbClr val="FFFFFF"/>
                </a:solidFill>
                <a:latin typeface="Calibri"/>
              </a:defRPr>
            </a:pPr>
            <a:r>
              <a:t>▸ Skapa innehållsdrivna landningssidor för viktiga kategorier</a:t>
            </a:r>
          </a:p>
          <a:p>
            <a:pPr>
              <a:spcAft>
                <a:spcPts val="600"/>
              </a:spcAft>
              <a:defRPr sz="1400">
                <a:solidFill>
                  <a:srgbClr val="FFFFFF"/>
                </a:solidFill>
                <a:latin typeface="Calibri"/>
              </a:defRPr>
            </a:pPr>
            <a:r>
              <a:t>▸ Bygg redaktionellt innehåll (guider, artiklar, kunskapssidor)</a:t>
            </a:r>
          </a:p>
          <a:p>
            <a:pPr>
              <a:spcAft>
                <a:spcPts val="600"/>
              </a:spcAft>
              <a:defRPr sz="1400">
                <a:solidFill>
                  <a:srgbClr val="FFFFFF"/>
                </a:solidFill>
                <a:latin typeface="Calibri"/>
              </a:defRPr>
            </a:pPr>
            <a:r>
              <a:t>▸ Inför löpande teknisk SEO-uppföljning</a:t>
            </a:r>
          </a:p>
          <a:p>
            <a:pPr>
              <a:spcAft>
                <a:spcPts val="600"/>
              </a:spcAft>
              <a:defRPr sz="1400">
                <a:solidFill>
                  <a:srgbClr val="FFFFFF"/>
                </a:solidFill>
                <a:latin typeface="Calibri"/>
              </a:defRPr>
            </a:pPr>
            <a:r>
              <a:t>▸ Utvärdera paginering och facetterad navigation ur SEO-perspektiv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457200"/>
          </a:xfrm>
          <a:prstGeom prst="rect">
            <a:avLst/>
          </a:prstGeom>
          <a:noFill/>
        </p:spPr>
        <p:txBody>
          <a:bodyPr wrap="square">
            <a:spAutoFit/>
          </a:bodyPr>
          <a:lstStyle/>
          <a:p>
            <a:pPr algn="l">
              <a:defRPr sz="1400" b="1">
                <a:solidFill>
                  <a:srgbClr val="E91E8C"/>
                </a:solidFill>
                <a:latin typeface="Calibri"/>
              </a:defRPr>
            </a:pPr>
            <a:r>
              <a:t>Sammanfattning</a:t>
            </a:r>
          </a:p>
        </p:txBody>
      </p:sp>
      <p:sp>
        <p:nvSpPr>
          <p:cNvPr id="4" name="TextBox 3"/>
          <p:cNvSpPr txBox="1"/>
          <p:nvPr/>
        </p:nvSpPr>
        <p:spPr>
          <a:xfrm>
            <a:off x="731520" y="822960"/>
            <a:ext cx="10058400" cy="548640"/>
          </a:xfrm>
          <a:prstGeom prst="rect">
            <a:avLst/>
          </a:prstGeom>
          <a:noFill/>
        </p:spPr>
        <p:txBody>
          <a:bodyPr wrap="square">
            <a:spAutoFit/>
          </a:bodyPr>
          <a:lstStyle/>
          <a:p>
            <a:pPr algn="l">
              <a:defRPr sz="3200" b="1">
                <a:solidFill>
                  <a:srgbClr val="FFFFFF"/>
                </a:solidFill>
                <a:latin typeface="Calibri"/>
              </a:defRPr>
            </a:pPr>
            <a:r>
              <a:t>Vår bedömning</a:t>
            </a:r>
          </a:p>
        </p:txBody>
      </p:sp>
      <p:sp>
        <p:nvSpPr>
          <p:cNvPr id="5" name="Rounded Rectangle 4"/>
          <p:cNvSpPr/>
          <p:nvPr/>
        </p:nvSpPr>
        <p:spPr>
          <a:xfrm>
            <a:off x="548640" y="1645920"/>
            <a:ext cx="10972800" cy="41148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10241280" cy="3474720"/>
          </a:xfrm>
          <a:prstGeom prst="rect">
            <a:avLst/>
          </a:prstGeom>
          <a:noFill/>
        </p:spPr>
        <p:txBody>
          <a:bodyPr wrap="square">
            <a:spAutoFit/>
          </a:bodyPr>
          <a:lstStyle/>
          <a:p>
            <a:pPr algn="l">
              <a:defRPr sz="1700" b="0">
                <a:solidFill>
                  <a:srgbClr val="FFFFFF"/>
                </a:solidFill>
                <a:latin typeface="Calibri"/>
              </a:defRPr>
            </a:pPr>
            <a:r>
              <a:t>nordicsnusonline.com har mycket stark affärspotential tack vare sitt breda sortiment, starka varumärken och tydliga kommersiella intentioner. Samtidigt är webbplatsens största utmaning dess egen storlek. Den omfattande användningen av filter, parametrar och kategorisidor skapar ett mycket stort antal URL:er som i nuläget konkurrerar med varandra och späds ut av noindex-regler och tekniska hinder. Genom att ta kontroll över indexeringen, minska duplicering och fokusera SEO-värdet till färre, starkare landningssidor kan webbplatsen avsevärt förbättra sin organiska synlighet.</a:t>
            </a:r>
          </a:p>
        </p:txBody>
      </p:sp>
      <p:sp>
        <p:nvSpPr>
          <p:cNvPr id="7" name="Rounded Rectangle 6"/>
          <p:cNvSpPr/>
          <p:nvPr/>
        </p:nvSpPr>
        <p:spPr>
          <a:xfrm>
            <a:off x="731520" y="5120640"/>
            <a:ext cx="2560320" cy="10058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212080"/>
            <a:ext cx="2560320" cy="457200"/>
          </a:xfrm>
          <a:prstGeom prst="rect">
            <a:avLst/>
          </a:prstGeom>
          <a:noFill/>
        </p:spPr>
        <p:txBody>
          <a:bodyPr wrap="square">
            <a:spAutoFit/>
          </a:bodyPr>
          <a:lstStyle/>
          <a:p>
            <a:pPr algn="ctr">
              <a:defRPr sz="3000" b="1">
                <a:solidFill>
                  <a:srgbClr val="EF4444"/>
                </a:solidFill>
                <a:latin typeface="Calibri"/>
              </a:defRPr>
            </a:pPr>
            <a:r>
              <a:t>6</a:t>
            </a:r>
          </a:p>
        </p:txBody>
      </p:sp>
      <p:sp>
        <p:nvSpPr>
          <p:cNvPr id="9" name="TextBox 8"/>
          <p:cNvSpPr txBox="1"/>
          <p:nvPr/>
        </p:nvSpPr>
        <p:spPr>
          <a:xfrm>
            <a:off x="731520" y="5669280"/>
            <a:ext cx="2560320" cy="274320"/>
          </a:xfrm>
          <a:prstGeom prst="rect">
            <a:avLst/>
          </a:prstGeom>
          <a:noFill/>
        </p:spPr>
        <p:txBody>
          <a:bodyPr wrap="square">
            <a:spAutoFit/>
          </a:bodyPr>
          <a:lstStyle/>
          <a:p>
            <a:pPr algn="ctr">
              <a:defRPr sz="1200" b="0">
                <a:solidFill>
                  <a:srgbClr val="94A3B8"/>
                </a:solidFill>
                <a:latin typeface="Calibri"/>
              </a:defRPr>
            </a:pPr>
            <a:r>
              <a:t>Kritiska</a:t>
            </a:r>
          </a:p>
        </p:txBody>
      </p:sp>
      <p:sp>
        <p:nvSpPr>
          <p:cNvPr id="10" name="Rounded Rectangle 9"/>
          <p:cNvSpPr/>
          <p:nvPr/>
        </p:nvSpPr>
        <p:spPr>
          <a:xfrm>
            <a:off x="3566160" y="5120640"/>
            <a:ext cx="2560320" cy="10058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5212080"/>
            <a:ext cx="2560320" cy="457200"/>
          </a:xfrm>
          <a:prstGeom prst="rect">
            <a:avLst/>
          </a:prstGeom>
          <a:noFill/>
        </p:spPr>
        <p:txBody>
          <a:bodyPr wrap="square">
            <a:spAutoFit/>
          </a:bodyPr>
          <a:lstStyle/>
          <a:p>
            <a:pPr algn="ctr">
              <a:defRPr sz="3000" b="1">
                <a:solidFill>
                  <a:srgbClr val="F59E0B"/>
                </a:solidFill>
                <a:latin typeface="Calibri"/>
              </a:defRPr>
            </a:pPr>
            <a:r>
              <a:t>8</a:t>
            </a:r>
          </a:p>
        </p:txBody>
      </p:sp>
      <p:sp>
        <p:nvSpPr>
          <p:cNvPr id="12" name="TextBox 11"/>
          <p:cNvSpPr txBox="1"/>
          <p:nvPr/>
        </p:nvSpPr>
        <p:spPr>
          <a:xfrm>
            <a:off x="3566160" y="5669280"/>
            <a:ext cx="2560320" cy="274320"/>
          </a:xfrm>
          <a:prstGeom prst="rect">
            <a:avLst/>
          </a:prstGeom>
          <a:noFill/>
        </p:spPr>
        <p:txBody>
          <a:bodyPr wrap="square">
            <a:spAutoFit/>
          </a:bodyPr>
          <a:lstStyle/>
          <a:p>
            <a:pPr algn="ctr">
              <a:defRPr sz="1200" b="0">
                <a:solidFill>
                  <a:srgbClr val="94A3B8"/>
                </a:solidFill>
                <a:latin typeface="Calibri"/>
              </a:defRPr>
            </a:pPr>
            <a:r>
              <a:t>Varningar</a:t>
            </a:r>
          </a:p>
        </p:txBody>
      </p:sp>
      <p:sp>
        <p:nvSpPr>
          <p:cNvPr id="13" name="Rounded Rectangle 12"/>
          <p:cNvSpPr/>
          <p:nvPr/>
        </p:nvSpPr>
        <p:spPr>
          <a:xfrm>
            <a:off x="6400800" y="5120640"/>
            <a:ext cx="2560320" cy="10058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5212080"/>
            <a:ext cx="2560320" cy="457200"/>
          </a:xfrm>
          <a:prstGeom prst="rect">
            <a:avLst/>
          </a:prstGeom>
          <a:noFill/>
        </p:spPr>
        <p:txBody>
          <a:bodyPr wrap="square">
            <a:spAutoFit/>
          </a:bodyPr>
          <a:lstStyle/>
          <a:p>
            <a:pPr algn="ctr">
              <a:defRPr sz="3000" b="1">
                <a:solidFill>
                  <a:srgbClr val="E91E8C"/>
                </a:solidFill>
                <a:latin typeface="Calibri"/>
              </a:defRPr>
            </a:pPr>
            <a:r>
              <a:t>6</a:t>
            </a:r>
          </a:p>
        </p:txBody>
      </p:sp>
      <p:sp>
        <p:nvSpPr>
          <p:cNvPr id="15" name="TextBox 14"/>
          <p:cNvSpPr txBox="1"/>
          <p:nvPr/>
        </p:nvSpPr>
        <p:spPr>
          <a:xfrm>
            <a:off x="6400800" y="5669280"/>
            <a:ext cx="2560320" cy="274320"/>
          </a:xfrm>
          <a:prstGeom prst="rect">
            <a:avLst/>
          </a:prstGeom>
          <a:noFill/>
        </p:spPr>
        <p:txBody>
          <a:bodyPr wrap="square">
            <a:spAutoFit/>
          </a:bodyPr>
          <a:lstStyle/>
          <a:p>
            <a:pPr algn="ctr">
              <a:defRPr sz="1200" b="0">
                <a:solidFill>
                  <a:srgbClr val="94A3B8"/>
                </a:solidFill>
                <a:latin typeface="Calibri"/>
              </a:defRPr>
            </a:pPr>
            <a:r>
              <a:t>Hög prio åtgärder</a:t>
            </a:r>
          </a:p>
        </p:txBody>
      </p:sp>
      <p:sp>
        <p:nvSpPr>
          <p:cNvPr id="16" name="Rounded Rectangle 15"/>
          <p:cNvSpPr/>
          <p:nvPr/>
        </p:nvSpPr>
        <p:spPr>
          <a:xfrm>
            <a:off x="9235440" y="5120640"/>
            <a:ext cx="2560320" cy="10058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5212080"/>
            <a:ext cx="2560320" cy="457200"/>
          </a:xfrm>
          <a:prstGeom prst="rect">
            <a:avLst/>
          </a:prstGeom>
          <a:noFill/>
        </p:spPr>
        <p:txBody>
          <a:bodyPr wrap="square">
            <a:spAutoFit/>
          </a:bodyPr>
          <a:lstStyle/>
          <a:p>
            <a:pPr algn="ctr">
              <a:defRPr sz="3000" b="1">
                <a:solidFill>
                  <a:srgbClr val="00D4FF"/>
                </a:solidFill>
                <a:latin typeface="Calibri"/>
              </a:defRPr>
            </a:pPr>
            <a:r>
              <a:t>6</a:t>
            </a:r>
          </a:p>
        </p:txBody>
      </p:sp>
      <p:sp>
        <p:nvSpPr>
          <p:cNvPr id="18" name="TextBox 17"/>
          <p:cNvSpPr txBox="1"/>
          <p:nvPr/>
        </p:nvSpPr>
        <p:spPr>
          <a:xfrm>
            <a:off x="9235440" y="5669280"/>
            <a:ext cx="2560320" cy="274320"/>
          </a:xfrm>
          <a:prstGeom prst="rect">
            <a:avLst/>
          </a:prstGeom>
          <a:noFill/>
        </p:spPr>
        <p:txBody>
          <a:bodyPr wrap="square">
            <a:spAutoFit/>
          </a:bodyPr>
          <a:lstStyle/>
          <a:p>
            <a:pPr algn="ctr">
              <a:defRPr sz="1200" b="0">
                <a:solidFill>
                  <a:srgbClr val="94A3B8"/>
                </a:solidFill>
                <a:latin typeface="Calibri"/>
              </a:defRPr>
            </a:pPr>
            <a:r>
              <a:t>Medel prio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457200"/>
          </a:xfrm>
          <a:prstGeom prst="rect">
            <a:avLst/>
          </a:prstGeom>
          <a:noFill/>
        </p:spPr>
        <p:txBody>
          <a:bodyPr wrap="square">
            <a:spAutoFit/>
          </a:bodyPr>
          <a:lstStyle/>
          <a:p>
            <a:pPr algn="l">
              <a:defRPr sz="1400" b="1">
                <a:solidFill>
                  <a:srgbClr val="E91E8C"/>
                </a:solidFill>
                <a:latin typeface="Calibri"/>
              </a:defRPr>
            </a:pPr>
            <a:r>
              <a:t>Investering</a:t>
            </a:r>
          </a:p>
        </p:txBody>
      </p:sp>
      <p:sp>
        <p:nvSpPr>
          <p:cNvPr id="4" name="TextBox 3"/>
          <p:cNvSpPr txBox="1"/>
          <p:nvPr/>
        </p:nvSpPr>
        <p:spPr>
          <a:xfrm>
            <a:off x="731520" y="822960"/>
            <a:ext cx="10058400" cy="548640"/>
          </a:xfrm>
          <a:prstGeom prst="rect">
            <a:avLst/>
          </a:prstGeom>
          <a:noFill/>
        </p:spPr>
        <p:txBody>
          <a:bodyPr wrap="square">
            <a:spAutoFit/>
          </a:bodyPr>
          <a:lstStyle/>
          <a:p>
            <a:pPr algn="l">
              <a:defRPr sz="3200" b="1">
                <a:solidFill>
                  <a:srgbClr val="FFFFFF"/>
                </a:solidFill>
                <a:latin typeface="Calibri"/>
              </a:defRPr>
            </a:pPr>
            <a:r>
              <a:t>Vad ni får</a:t>
            </a:r>
          </a:p>
        </p:txBody>
      </p:sp>
      <p:sp>
        <p:nvSpPr>
          <p:cNvPr id="5" name="Rounded Rectangle 4"/>
          <p:cNvSpPr/>
          <p:nvPr/>
        </p:nvSpPr>
        <p:spPr>
          <a:xfrm>
            <a:off x="548640" y="1554480"/>
            <a:ext cx="6583680" cy="484632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37360"/>
            <a:ext cx="6217920" cy="4572000"/>
          </a:xfrm>
          <a:prstGeom prst="rect">
            <a:avLst/>
          </a:prstGeom>
          <a:noFill/>
        </p:spPr>
        <p:txBody>
          <a:bodyPr wrap="square">
            <a:spAutoFit/>
          </a:bodyPr>
          <a:lstStyle/>
          <a:p>
            <a:pPr>
              <a:spcAft>
                <a:spcPts val="600"/>
              </a:spcAft>
              <a:defRPr sz="1600">
                <a:solidFill>
                  <a:srgbClr val="FFFFFF"/>
                </a:solidFill>
                <a:latin typeface="Calibri"/>
              </a:defRPr>
            </a:pPr>
            <a:r>
              <a:t>✓ Komplett SEO-analys &amp; teknisk genomgång</a:t>
            </a:r>
          </a:p>
          <a:p>
            <a:pPr>
              <a:spcAft>
                <a:spcPts val="600"/>
              </a:spcAft>
              <a:defRPr sz="1600">
                <a:solidFill>
                  <a:srgbClr val="FFFFFF"/>
                </a:solidFill>
                <a:latin typeface="Calibri"/>
              </a:defRPr>
            </a:pPr>
            <a:r>
              <a:t>✓ Optimering av alla meta-titlar &amp; beskrivningar</a:t>
            </a:r>
          </a:p>
          <a:p>
            <a:pPr>
              <a:spcAft>
                <a:spcPts val="600"/>
              </a:spcAft>
              <a:defRPr sz="1600">
                <a:solidFill>
                  <a:srgbClr val="FFFFFF"/>
                </a:solidFill>
                <a:latin typeface="Calibri"/>
              </a:defRPr>
            </a:pPr>
            <a:r>
              <a:t>✓ Schema markup (strukturerad data)</a:t>
            </a:r>
          </a:p>
          <a:p>
            <a:pPr>
              <a:spcAft>
                <a:spcPts val="600"/>
              </a:spcAft>
              <a:defRPr sz="1600">
                <a:solidFill>
                  <a:srgbClr val="FFFFFF"/>
                </a:solidFill>
                <a:latin typeface="Calibri"/>
              </a:defRPr>
            </a:pPr>
            <a:r>
              <a:t>✓ Indexeringsstrategi &amp; canonical-hantering</a:t>
            </a:r>
          </a:p>
          <a:p>
            <a:pPr>
              <a:spcAft>
                <a:spcPts val="600"/>
              </a:spcAft>
              <a:defRPr sz="1600">
                <a:solidFill>
                  <a:srgbClr val="FFFFFF"/>
                </a:solidFill>
                <a:latin typeface="Calibri"/>
              </a:defRPr>
            </a:pPr>
            <a:r>
              <a:t>✓ Intern länkning &amp; breadcrumbs</a:t>
            </a:r>
          </a:p>
          <a:p>
            <a:pPr>
              <a:spcAft>
                <a:spcPts val="600"/>
              </a:spcAft>
              <a:defRPr sz="1600">
                <a:solidFill>
                  <a:srgbClr val="FFFFFF"/>
                </a:solidFill>
                <a:latin typeface="Calibri"/>
              </a:defRPr>
            </a:pPr>
            <a:r>
              <a:t>✓ Automatisk veckooptimering av era sidor</a:t>
            </a:r>
          </a:p>
          <a:p>
            <a:pPr>
              <a:spcAft>
                <a:spcPts val="600"/>
              </a:spcAft>
              <a:defRPr sz="1600">
                <a:solidFill>
                  <a:srgbClr val="FFFFFF"/>
                </a:solidFill>
                <a:latin typeface="Calibri"/>
              </a:defRPr>
            </a:pPr>
            <a:r>
              <a:t>✓ Veckorapporter med resultat &amp; framsteg</a:t>
            </a:r>
          </a:p>
          <a:p>
            <a:pPr>
              <a:spcAft>
                <a:spcPts val="600"/>
              </a:spcAft>
              <a:defRPr sz="1600">
                <a:solidFill>
                  <a:srgbClr val="FFFFFF"/>
                </a:solidFill>
                <a:latin typeface="Calibri"/>
              </a:defRPr>
            </a:pPr>
            <a:r>
              <a:t>✓ Personlig kontakt &amp; löpande rådgivning</a:t>
            </a:r>
          </a:p>
        </p:txBody>
      </p:sp>
      <p:sp>
        <p:nvSpPr>
          <p:cNvPr id="7" name="Rounded Rectangle 6"/>
          <p:cNvSpPr/>
          <p:nvPr/>
        </p:nvSpPr>
        <p:spPr>
          <a:xfrm>
            <a:off x="7589520" y="1828800"/>
            <a:ext cx="3931920" cy="3657600"/>
          </a:xfrm>
          <a:prstGeom prst="roundRect">
            <a:avLst/>
          </a:prstGeom>
          <a:solidFill>
            <a:srgbClr val="1E293B"/>
          </a:solidFill>
          <a:ln w="25400">
            <a:solidFill>
              <a:srgbClr val="E91E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011680"/>
            <a:ext cx="3931920" cy="365760"/>
          </a:xfrm>
          <a:prstGeom prst="rect">
            <a:avLst/>
          </a:prstGeom>
          <a:noFill/>
        </p:spPr>
        <p:txBody>
          <a:bodyPr wrap="square">
            <a:spAutoFit/>
          </a:bodyPr>
          <a:lstStyle/>
          <a:p>
            <a:pPr algn="ctr">
              <a:defRPr sz="1600" b="1">
                <a:solidFill>
                  <a:srgbClr val="E91E8C"/>
                </a:solidFill>
                <a:latin typeface="Calibri"/>
              </a:defRPr>
            </a:pPr>
            <a:r>
              <a:t>PREMIUM</a:t>
            </a:r>
          </a:p>
        </p:txBody>
      </p:sp>
      <p:sp>
        <p:nvSpPr>
          <p:cNvPr id="9" name="TextBox 8"/>
          <p:cNvSpPr txBox="1"/>
          <p:nvPr/>
        </p:nvSpPr>
        <p:spPr>
          <a:xfrm>
            <a:off x="7589520" y="2560320"/>
            <a:ext cx="3931920" cy="914400"/>
          </a:xfrm>
          <a:prstGeom prst="rect">
            <a:avLst/>
          </a:prstGeom>
          <a:noFill/>
        </p:spPr>
        <p:txBody>
          <a:bodyPr wrap="square">
            <a:spAutoFit/>
          </a:bodyPr>
          <a:lstStyle/>
          <a:p>
            <a:pPr algn="ctr">
              <a:defRPr sz="5200" b="1">
                <a:solidFill>
                  <a:srgbClr val="FFFFFF"/>
                </a:solidFill>
                <a:latin typeface="Calibri"/>
              </a:defRPr>
            </a:pPr>
            <a:r>
              <a:t>8 000 kr</a:t>
            </a:r>
          </a:p>
        </p:txBody>
      </p:sp>
      <p:sp>
        <p:nvSpPr>
          <p:cNvPr id="10" name="TextBox 9"/>
          <p:cNvSpPr txBox="1"/>
          <p:nvPr/>
        </p:nvSpPr>
        <p:spPr>
          <a:xfrm>
            <a:off x="7589520" y="3474720"/>
            <a:ext cx="3931920" cy="365760"/>
          </a:xfrm>
          <a:prstGeom prst="rect">
            <a:avLst/>
          </a:prstGeom>
          <a:noFill/>
        </p:spPr>
        <p:txBody>
          <a:bodyPr wrap="square">
            <a:spAutoFit/>
          </a:bodyPr>
          <a:lstStyle/>
          <a:p>
            <a:pPr algn="ctr">
              <a:defRPr sz="1400" b="0">
                <a:solidFill>
                  <a:srgbClr val="94A3B8"/>
                </a:solidFill>
                <a:latin typeface="Calibri"/>
              </a:defRPr>
            </a:pPr>
            <a:r>
              <a:t>/månad exkl. moms</a:t>
            </a:r>
          </a:p>
        </p:txBody>
      </p:sp>
      <p:sp>
        <p:nvSpPr>
          <p:cNvPr id="11" name="Rectangle 10"/>
          <p:cNvSpPr/>
          <p:nvPr/>
        </p:nvSpPr>
        <p:spPr>
          <a:xfrm>
            <a:off x="8229600" y="4023360"/>
            <a:ext cx="2377440" cy="36576"/>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914400"/>
          </a:xfrm>
          <a:prstGeom prst="rect">
            <a:avLst/>
          </a:prstGeom>
          <a:noFill/>
        </p:spPr>
        <p:txBody>
          <a:bodyPr wrap="square">
            <a:spAutoFit/>
          </a:bodyPr>
          <a:lstStyle/>
          <a:p>
            <a:pPr algn="ctr">
              <a:defRPr sz="4800" b="1">
                <a:solidFill>
                  <a:srgbClr val="FFFFFF"/>
                </a:solidFill>
                <a:latin typeface="Calibri"/>
              </a:defRPr>
            </a:pPr>
            <a:r>
              <a:t>Redo att synas i Google?</a:t>
            </a:r>
          </a:p>
        </p:txBody>
      </p:sp>
      <p:sp>
        <p:nvSpPr>
          <p:cNvPr id="4" name="TextBox 3"/>
          <p:cNvSpPr txBox="1"/>
          <p:nvPr/>
        </p:nvSpPr>
        <p:spPr>
          <a:xfrm>
            <a:off x="1828800" y="2743200"/>
            <a:ext cx="8229600" cy="731520"/>
          </a:xfrm>
          <a:prstGeom prst="rect">
            <a:avLst/>
          </a:prstGeom>
          <a:noFill/>
        </p:spPr>
        <p:txBody>
          <a:bodyPr wrap="square">
            <a:spAutoFit/>
          </a:bodyPr>
          <a:lstStyle/>
          <a:p>
            <a:pPr algn="ctr">
              <a:defRPr sz="2400" b="0">
                <a:solidFill>
                  <a:srgbClr val="94A3B8"/>
                </a:solidFill>
                <a:latin typeface="Calibri"/>
              </a:defRPr>
            </a:pPr>
            <a:r>
              <a:t>Vi kan börja optimera nordicsnusonline.com redan denna vecka.</a:t>
            </a:r>
          </a:p>
        </p:txBody>
      </p:sp>
      <p:sp>
        <p:nvSpPr>
          <p:cNvPr id="5" name="Rounded Rectangle 4"/>
          <p:cNvSpPr/>
          <p:nvPr/>
        </p:nvSpPr>
        <p:spPr>
          <a:xfrm>
            <a:off x="4114800" y="3840480"/>
            <a:ext cx="3931920" cy="822960"/>
          </a:xfrm>
          <a:prstGeom prst="round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0" y="3931920"/>
            <a:ext cx="3931920" cy="640080"/>
          </a:xfrm>
          <a:prstGeom prst="rect">
            <a:avLst/>
          </a:prstGeom>
          <a:noFill/>
        </p:spPr>
        <p:txBody>
          <a:bodyPr wrap="square">
            <a:spAutoFit/>
          </a:bodyPr>
          <a:lstStyle/>
          <a:p>
            <a:pPr algn="ctr">
              <a:defRPr sz="2800" b="1">
                <a:solidFill>
                  <a:srgbClr val="FFFFFF"/>
                </a:solidFill>
                <a:latin typeface="Calibri"/>
              </a:defRPr>
            </a:pPr>
            <a:r>
              <a:t>Starta idag</a:t>
            </a:r>
          </a:p>
        </p:txBody>
      </p:sp>
      <p:sp>
        <p:nvSpPr>
          <p:cNvPr id="7" name="Rectangle 6"/>
          <p:cNvSpPr/>
          <p:nvPr/>
        </p:nvSpPr>
        <p:spPr>
          <a:xfrm>
            <a:off x="3657600" y="5303520"/>
            <a:ext cx="4846320" cy="36576"/>
          </a:xfrm>
          <a:prstGeom prst="rect">
            <a:avLst/>
          </a:prstGeom>
          <a:solidFill>
            <a:srgbClr val="E91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577840"/>
            <a:ext cx="10058400" cy="365760"/>
          </a:xfrm>
          <a:prstGeom prst="rect">
            <a:avLst/>
          </a:prstGeom>
          <a:noFill/>
        </p:spPr>
        <p:txBody>
          <a:bodyPr wrap="square">
            <a:spAutoFit/>
          </a:bodyPr>
          <a:lstStyle/>
          <a:p>
            <a:pPr algn="ctr">
              <a:defRPr sz="1400" b="0">
                <a:solidFill>
                  <a:srgbClr val="94A3B8"/>
                </a:solidFill>
                <a:latin typeface="Calibri"/>
              </a:defRPr>
            </a:pPr>
            <a:r>
              <a:t>Mikael Larsson | mikael@searchboost.se | 0760-19 49 05 | searchboost.se</a:t>
            </a:r>
          </a:p>
        </p:txBody>
      </p:sp>
      <p:sp>
        <p:nvSpPr>
          <p:cNvPr id="9" name="TextBox 8"/>
          <p:cNvSpPr txBox="1"/>
          <p:nvPr/>
        </p:nvSpPr>
        <p:spPr>
          <a:xfrm>
            <a:off x="914400" y="5943600"/>
            <a:ext cx="10058400" cy="365760"/>
          </a:xfrm>
          <a:prstGeom prst="rect">
            <a:avLst/>
          </a:prstGeom>
          <a:noFill/>
        </p:spPr>
        <p:txBody>
          <a:bodyPr wrap="square">
            <a:spAutoFit/>
          </a:bodyPr>
          <a:lstStyle/>
          <a:p>
            <a:pPr algn="ctr">
              <a:defRPr sz="1800" b="1">
                <a:solidFill>
                  <a:srgbClr val="E91E8C"/>
                </a:solidFill>
                <a:latin typeface="Calibri"/>
              </a:defRPr>
            </a:pPr>
            <a:r>
              <a:t>SEARCHBOOST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