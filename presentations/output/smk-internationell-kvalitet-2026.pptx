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5943600" y="-1828800"/>
            <a:ext cx="6400800" cy="9144000"/>
          </a:xfrm>
          <a:prstGeom prst="rect">
            <a:avLst/>
          </a:prstGeom>
          <a:solidFill>
            <a:srgbClr val="566754">
              <a:alpha val="92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5720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48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5667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SMÅLANDS KONTORSMÖBLER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640080" y="1371600"/>
            <a:ext cx="1371600" cy="32004"/>
          </a:xfrm>
          <a:prstGeom prst="rect">
            <a:avLst/>
          </a:prstGeom>
          <a:solidFill>
            <a:srgbClr val="B48C5A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16459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3A47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Internationell Kvalitet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640080" y="2468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48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för en WooCommerce-butik i världsklass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40080" y="3108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April 2026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3931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Kontorsmöbler för alla miljöer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37160"/>
            <a:ext cx="32004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1645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5667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SMÅLANDS KONTORSMÖBLER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47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Nuläge — Var vi står idag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731520" cy="32004"/>
          </a:xfrm>
          <a:prstGeom prst="rect">
            <a:avLst/>
          </a:prstGeom>
          <a:solidFill>
            <a:srgbClr val="B48C5A"/>
          </a:solidFill>
          <a:ln/>
        </p:spPr>
      </p:sp>
      <p:sp>
        <p:nvSpPr>
          <p:cNvPr id="6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C3B2A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48646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48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searchboost.se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3200400" y="4864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BE7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smalandskontorsmobler.se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48646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BE7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457200" y="1234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8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Klart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1600200"/>
            <a:ext cx="3840480" cy="2926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200" y="1600200"/>
            <a:ext cx="45720" cy="292608"/>
          </a:xfrm>
          <a:prstGeom prst="rect">
            <a:avLst/>
          </a:prstGeom>
          <a:solidFill>
            <a:srgbClr val="4A8C5C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" y="16002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896 produkter importerade från Abicart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57200" y="1965960"/>
            <a:ext cx="3840480" cy="2926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57200" y="1965960"/>
            <a:ext cx="45720" cy="292608"/>
          </a:xfrm>
          <a:prstGeom prst="rect">
            <a:avLst/>
          </a:prstGeom>
          <a:solidFill>
            <a:srgbClr val="4A8C5C"/>
          </a:solidFill>
          <a:ln/>
        </p:spPr>
      </p:sp>
      <p:sp>
        <p:nvSpPr>
          <p:cNvPr id="16" name="Text 13"/>
          <p:cNvSpPr/>
          <p:nvPr/>
        </p:nvSpPr>
        <p:spPr>
          <a:xfrm>
            <a:off x="640080" y="19659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46/47 kategoritexter skrivna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57200" y="2331720"/>
            <a:ext cx="3840480" cy="2926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57200" y="2331720"/>
            <a:ext cx="45720" cy="292608"/>
          </a:xfrm>
          <a:prstGeom prst="rect">
            <a:avLst/>
          </a:prstGeom>
          <a:solidFill>
            <a:srgbClr val="4A8C5C"/>
          </a:solidFill>
          <a:ln/>
        </p:spPr>
      </p:sp>
      <p:sp>
        <p:nvSpPr>
          <p:cNvPr id="19" name="Text 16"/>
          <p:cNvSpPr/>
          <p:nvPr/>
        </p:nvSpPr>
        <p:spPr>
          <a:xfrm>
            <a:off x="640080" y="233172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blogginlägg publicerade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57200" y="2697480"/>
            <a:ext cx="3840480" cy="2926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57200" y="2697480"/>
            <a:ext cx="45720" cy="292608"/>
          </a:xfrm>
          <a:prstGeom prst="rect">
            <a:avLst/>
          </a:prstGeom>
          <a:solidFill>
            <a:srgbClr val="4A8C5C"/>
          </a:solidFill>
          <a:ln/>
        </p:spPr>
      </p:sp>
      <p:sp>
        <p:nvSpPr>
          <p:cNvPr id="22" name="Text 19"/>
          <p:cNvSpPr/>
          <p:nvPr/>
        </p:nvSpPr>
        <p:spPr>
          <a:xfrm>
            <a:off x="640080" y="269748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 Math SEO PRO installerat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57200" y="3063240"/>
            <a:ext cx="3840480" cy="2926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57200" y="3063240"/>
            <a:ext cx="45720" cy="292608"/>
          </a:xfrm>
          <a:prstGeom prst="rect">
            <a:avLst/>
          </a:prstGeom>
          <a:solidFill>
            <a:srgbClr val="4A8C5C"/>
          </a:solidFill>
          <a:ln/>
        </p:spPr>
      </p:sp>
      <p:sp>
        <p:nvSpPr>
          <p:cNvPr id="25" name="Text 22"/>
          <p:cNvSpPr/>
          <p:nvPr/>
        </p:nvSpPr>
        <p:spPr>
          <a:xfrm>
            <a:off x="640080" y="306324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WP Mail SMTP installerat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57200" y="3429000"/>
            <a:ext cx="3840480" cy="2926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57200" y="3429000"/>
            <a:ext cx="45720" cy="292608"/>
          </a:xfrm>
          <a:prstGeom prst="rect">
            <a:avLst/>
          </a:prstGeom>
          <a:solidFill>
            <a:srgbClr val="4A8C5C"/>
          </a:solidFill>
          <a:ln/>
        </p:spPr>
      </p:sp>
      <p:sp>
        <p:nvSpPr>
          <p:cNvPr id="28" name="Text 25"/>
          <p:cNvSpPr/>
          <p:nvPr/>
        </p:nvSpPr>
        <p:spPr>
          <a:xfrm>
            <a:off x="640080" y="34290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Checkout v2: Företag/Privatperson-väljare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57200" y="3794760"/>
            <a:ext cx="3840480" cy="2926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457200" y="3794760"/>
            <a:ext cx="45720" cy="292608"/>
          </a:xfrm>
          <a:prstGeom prst="rect">
            <a:avLst/>
          </a:prstGeom>
          <a:solidFill>
            <a:srgbClr val="4A8C5C"/>
          </a:solidFill>
          <a:ln/>
        </p:spPr>
      </p:sp>
      <p:sp>
        <p:nvSpPr>
          <p:cNvPr id="31" name="Text 28"/>
          <p:cNvSpPr/>
          <p:nvPr/>
        </p:nvSpPr>
        <p:spPr>
          <a:xfrm>
            <a:off x="640080" y="37947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Swedbank Pay + Faktura aktivt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4754880" y="1234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569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Saknas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4754880" y="1600200"/>
            <a:ext cx="3931920" cy="2926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4754880" y="1600200"/>
            <a:ext cx="45720" cy="292608"/>
          </a:xfrm>
          <a:prstGeom prst="rect">
            <a:avLst/>
          </a:prstGeom>
          <a:solidFill>
            <a:srgbClr val="D5694E"/>
          </a:solidFill>
          <a:ln/>
        </p:spPr>
      </p:sp>
      <p:sp>
        <p:nvSpPr>
          <p:cNvPr id="35" name="Text 32"/>
          <p:cNvSpPr/>
          <p:nvPr/>
        </p:nvSpPr>
        <p:spPr>
          <a:xfrm>
            <a:off x="4937760" y="16002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Orderbekräftelse-mejl (SMTP-lösenord)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754880" y="1965960"/>
            <a:ext cx="3931920" cy="2926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4754880" y="1965960"/>
            <a:ext cx="45720" cy="292608"/>
          </a:xfrm>
          <a:prstGeom prst="rect">
            <a:avLst/>
          </a:prstGeom>
          <a:solidFill>
            <a:srgbClr val="D5694E"/>
          </a:solidFill>
          <a:ln/>
        </p:spPr>
      </p:sp>
      <p:sp>
        <p:nvSpPr>
          <p:cNvPr id="38" name="Text 35"/>
          <p:cNvSpPr/>
          <p:nvPr/>
        </p:nvSpPr>
        <p:spPr>
          <a:xfrm>
            <a:off x="4937760" y="19659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Trygg e-handel / förtroendebadges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4754880" y="2331720"/>
            <a:ext cx="3931920" cy="2926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4754880" y="2331720"/>
            <a:ext cx="45720" cy="292608"/>
          </a:xfrm>
          <a:prstGeom prst="rect">
            <a:avLst/>
          </a:prstGeom>
          <a:solidFill>
            <a:srgbClr val="D5694E"/>
          </a:solidFill>
          <a:ln/>
        </p:spPr>
      </p:sp>
      <p:sp>
        <p:nvSpPr>
          <p:cNvPr id="41" name="Text 38"/>
          <p:cNvSpPr/>
          <p:nvPr/>
        </p:nvSpPr>
        <p:spPr>
          <a:xfrm>
            <a:off x="4937760" y="23317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Fraktlösning för tunga möbler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4754880" y="2697480"/>
            <a:ext cx="3931920" cy="2926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4754880" y="2697480"/>
            <a:ext cx="45720" cy="292608"/>
          </a:xfrm>
          <a:prstGeom prst="rect">
            <a:avLst/>
          </a:prstGeom>
          <a:solidFill>
            <a:srgbClr val="D5694E"/>
          </a:solidFill>
          <a:ln/>
        </p:spPr>
      </p:sp>
      <p:sp>
        <p:nvSpPr>
          <p:cNvPr id="44" name="Text 41"/>
          <p:cNvSpPr/>
          <p:nvPr/>
        </p:nvSpPr>
        <p:spPr>
          <a:xfrm>
            <a:off x="4937760" y="26974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Mobiloptimering av kassan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4754880" y="3063240"/>
            <a:ext cx="3931920" cy="2926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4754880" y="3063240"/>
            <a:ext cx="45720" cy="292608"/>
          </a:xfrm>
          <a:prstGeom prst="rect">
            <a:avLst/>
          </a:prstGeom>
          <a:solidFill>
            <a:srgbClr val="D5694E"/>
          </a:solidFill>
          <a:ln/>
        </p:spPr>
      </p:sp>
      <p:sp>
        <p:nvSpPr>
          <p:cNvPr id="47" name="Text 44"/>
          <p:cNvSpPr/>
          <p:nvPr/>
        </p:nvSpPr>
        <p:spPr>
          <a:xfrm>
            <a:off x="4937760" y="30632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Finland/Norden-försäljning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4754880" y="3429000"/>
            <a:ext cx="3931920" cy="2926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49" name="Shape 46"/>
          <p:cNvSpPr/>
          <p:nvPr/>
        </p:nvSpPr>
        <p:spPr>
          <a:xfrm>
            <a:off x="4754880" y="3429000"/>
            <a:ext cx="45720" cy="292608"/>
          </a:xfrm>
          <a:prstGeom prst="rect">
            <a:avLst/>
          </a:prstGeom>
          <a:solidFill>
            <a:srgbClr val="D5694E"/>
          </a:solidFill>
          <a:ln/>
        </p:spPr>
      </p:sp>
      <p:sp>
        <p:nvSpPr>
          <p:cNvPr id="50" name="Text 47"/>
          <p:cNvSpPr/>
          <p:nvPr/>
        </p:nvSpPr>
        <p:spPr>
          <a:xfrm>
            <a:off x="4937760" y="34290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Galleribilder på ~60% av produkterna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4754880" y="3794760"/>
            <a:ext cx="3931920" cy="2926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52" name="Shape 49"/>
          <p:cNvSpPr/>
          <p:nvPr/>
        </p:nvSpPr>
        <p:spPr>
          <a:xfrm>
            <a:off x="4754880" y="3794760"/>
            <a:ext cx="45720" cy="292608"/>
          </a:xfrm>
          <a:prstGeom prst="rect">
            <a:avLst/>
          </a:prstGeom>
          <a:solidFill>
            <a:srgbClr val="D5694E"/>
          </a:solidFill>
          <a:ln/>
        </p:spPr>
      </p:sp>
      <p:sp>
        <p:nvSpPr>
          <p:cNvPr id="53" name="Text 50"/>
          <p:cNvSpPr/>
          <p:nvPr/>
        </p:nvSpPr>
        <p:spPr>
          <a:xfrm>
            <a:off x="4937760" y="37947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Internationell kvalitetskänsla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37160"/>
            <a:ext cx="32004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1645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5667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SMÅLANDS KONTORSMÖBLER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47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Vision — Internationell kvalitet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731520" cy="32004"/>
          </a:xfrm>
          <a:prstGeom prst="rect">
            <a:avLst/>
          </a:prstGeom>
          <a:solidFill>
            <a:srgbClr val="B48C5A"/>
          </a:solidFill>
          <a:ln/>
        </p:spPr>
      </p:sp>
      <p:sp>
        <p:nvSpPr>
          <p:cNvPr id="6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C3B2A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48646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48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searchboost.se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3200400" y="4864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BE7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smalandskontorsmobler.se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48646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BE7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457200" y="128016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" y="1280160"/>
            <a:ext cx="54864" cy="685800"/>
          </a:xfrm>
          <a:prstGeom prst="rect">
            <a:avLst/>
          </a:prstGeom>
          <a:solidFill>
            <a:srgbClr val="566754"/>
          </a:solidFill>
          <a:ln/>
        </p:spPr>
      </p:sp>
      <p:sp>
        <p:nvSpPr>
          <p:cNvPr id="12" name="Text 9"/>
          <p:cNvSpPr/>
          <p:nvPr/>
        </p:nvSpPr>
        <p:spPr>
          <a:xfrm>
            <a:off x="731520" y="1325880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667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Referensbutiker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31520" y="161848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Flugger.se, Kinnarps.se, AJ Produkter — svenska B2B-butiker med internationell känsla. Det är dit vi ska.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57200" y="2148840"/>
            <a:ext cx="54864" cy="685800"/>
          </a:xfrm>
          <a:prstGeom prst="rect">
            <a:avLst/>
          </a:prstGeom>
          <a:solidFill>
            <a:srgbClr val="B48C5A"/>
          </a:solidFill>
          <a:ln/>
        </p:spPr>
      </p:sp>
      <p:sp>
        <p:nvSpPr>
          <p:cNvPr id="16" name="Text 13"/>
          <p:cNvSpPr/>
          <p:nvPr/>
        </p:nvSpPr>
        <p:spPr>
          <a:xfrm>
            <a:off x="731520" y="2194560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8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Första intrycket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31520" y="248716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besökare ska på 3 sekunder förstå: vad ni säljer, att ni är trovärdiga, och hur man beställer.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301752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57200" y="3017520"/>
            <a:ext cx="54864" cy="685800"/>
          </a:xfrm>
          <a:prstGeom prst="rect">
            <a:avLst/>
          </a:prstGeom>
          <a:solidFill>
            <a:srgbClr val="4A8C5C"/>
          </a:solidFill>
          <a:ln/>
        </p:spPr>
      </p:sp>
      <p:sp>
        <p:nvSpPr>
          <p:cNvPr id="20" name="Text 17"/>
          <p:cNvSpPr/>
          <p:nvPr/>
        </p:nvSpPr>
        <p:spPr>
          <a:xfrm>
            <a:off x="731520" y="3063240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8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 först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731520" y="335584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60%+ av B2B-research börjar på mobil. Sidan MÅSTE vara felfri på telefon.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57200" y="388620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57200" y="3886200"/>
            <a:ext cx="54864" cy="685800"/>
          </a:xfrm>
          <a:prstGeom prst="rect">
            <a:avLst/>
          </a:prstGeom>
          <a:solidFill>
            <a:srgbClr val="4A7FB5"/>
          </a:solidFill>
          <a:ln/>
        </p:spPr>
      </p:sp>
      <p:sp>
        <p:nvSpPr>
          <p:cNvPr id="24" name="Text 21"/>
          <p:cNvSpPr/>
          <p:nvPr/>
        </p:nvSpPr>
        <p:spPr>
          <a:xfrm>
            <a:off x="731520" y="3931920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7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Norden + EU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731520" y="422452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Sverige, Finland, Danmark, Norge — samma plattform, samma kvalitet, rätt språk.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37160"/>
            <a:ext cx="32004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1645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5667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SMÅLANDS KONTORSMÖBLER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47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Kassa &amp; Betalning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731520" cy="32004"/>
          </a:xfrm>
          <a:prstGeom prst="rect">
            <a:avLst/>
          </a:prstGeom>
          <a:solidFill>
            <a:srgbClr val="B48C5A"/>
          </a:solidFill>
          <a:ln/>
        </p:spPr>
      </p:sp>
      <p:sp>
        <p:nvSpPr>
          <p:cNvPr id="6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C3B2A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48646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48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searchboost.se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3200400" y="4864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BE7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smalandskontorsmobler.se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48646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BE7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457200" y="1234440"/>
            <a:ext cx="73152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" y="1234440"/>
            <a:ext cx="45720" cy="566928"/>
          </a:xfrm>
          <a:prstGeom prst="rect">
            <a:avLst/>
          </a:prstGeom>
          <a:solidFill>
            <a:srgbClr val="4A8C5C"/>
          </a:solidFill>
          <a:ln/>
        </p:spPr>
      </p:sp>
      <p:sp>
        <p:nvSpPr>
          <p:cNvPr id="12" name="Shape 9"/>
          <p:cNvSpPr/>
          <p:nvPr/>
        </p:nvSpPr>
        <p:spPr>
          <a:xfrm>
            <a:off x="7955280" y="1380744"/>
            <a:ext cx="731520" cy="256032"/>
          </a:xfrm>
          <a:prstGeom prst="rect">
            <a:avLst/>
          </a:prstGeom>
          <a:solidFill>
            <a:srgbClr val="4A8C5C">
              <a:alpha val="15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7955280" y="138074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A8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KLART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685800" y="1271016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47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Företag/Privat-toggle (KLART)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85800" y="1527048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smk-checkout v2.0 — tydlig väljare överst i kassan med villkorad faktura, avisering, org.nr.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57200" y="1938528"/>
            <a:ext cx="73152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57200" y="1938528"/>
            <a:ext cx="45720" cy="566928"/>
          </a:xfrm>
          <a:prstGeom prst="rect">
            <a:avLst/>
          </a:prstGeom>
          <a:solidFill>
            <a:srgbClr val="4A7FB5"/>
          </a:solidFill>
          <a:ln/>
        </p:spPr>
      </p:sp>
      <p:sp>
        <p:nvSpPr>
          <p:cNvPr id="18" name="Shape 15"/>
          <p:cNvSpPr/>
          <p:nvPr/>
        </p:nvSpPr>
        <p:spPr>
          <a:xfrm>
            <a:off x="7955280" y="2084832"/>
            <a:ext cx="731520" cy="256032"/>
          </a:xfrm>
          <a:prstGeom prst="rect">
            <a:avLst/>
          </a:prstGeom>
          <a:solidFill>
            <a:srgbClr val="4A7FB5">
              <a:alpha val="15000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7955280" y="208483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A7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NÄSTA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685800" y="1975104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47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Walley Checkout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85800" y="2231136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B2B-faktura (14/30 dagar) + B2C (kort, Swish, delbetalning) i EN kassalösning. Stödjer Norden.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57200" y="2642616"/>
            <a:ext cx="73152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57200" y="2642616"/>
            <a:ext cx="45720" cy="566928"/>
          </a:xfrm>
          <a:prstGeom prst="rect">
            <a:avLst/>
          </a:prstGeom>
          <a:solidFill>
            <a:srgbClr val="4A7FB5"/>
          </a:solidFill>
          <a:ln/>
        </p:spPr>
      </p:sp>
      <p:sp>
        <p:nvSpPr>
          <p:cNvPr id="24" name="Shape 21"/>
          <p:cNvSpPr/>
          <p:nvPr/>
        </p:nvSpPr>
        <p:spPr>
          <a:xfrm>
            <a:off x="7955280" y="2788920"/>
            <a:ext cx="731520" cy="256032"/>
          </a:xfrm>
          <a:prstGeom prst="rect">
            <a:avLst/>
          </a:prstGeom>
          <a:solidFill>
            <a:srgbClr val="4A7FB5">
              <a:alpha val="15000"/>
            </a:srgbClr>
          </a:solidFill>
          <a:ln/>
        </p:spPr>
      </p:sp>
      <p:sp>
        <p:nvSpPr>
          <p:cNvPr id="25" name="Text 22"/>
          <p:cNvSpPr/>
          <p:nvPr/>
        </p:nvSpPr>
        <p:spPr>
          <a:xfrm>
            <a:off x="7955280" y="278892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A7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NÄSTA</a:t>
            </a:r>
            <a:endParaRPr lang="en-US" sz="700" dirty="0"/>
          </a:p>
        </p:txBody>
      </p:sp>
      <p:sp>
        <p:nvSpPr>
          <p:cNvPr id="26" name="Text 23"/>
          <p:cNvSpPr/>
          <p:nvPr/>
        </p:nvSpPr>
        <p:spPr>
          <a:xfrm>
            <a:off x="685800" y="2679192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47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Klarna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685800" y="2935224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"Betala senare" / delbetalning. Populärt för dyrare möbelköp. Ökar konvertering.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457200" y="3346704"/>
            <a:ext cx="73152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457200" y="3346704"/>
            <a:ext cx="45720" cy="566928"/>
          </a:xfrm>
          <a:prstGeom prst="rect">
            <a:avLst/>
          </a:prstGeom>
          <a:solidFill>
            <a:srgbClr val="4A7FB5"/>
          </a:solidFill>
          <a:ln/>
        </p:spPr>
      </p:sp>
      <p:sp>
        <p:nvSpPr>
          <p:cNvPr id="30" name="Shape 27"/>
          <p:cNvSpPr/>
          <p:nvPr/>
        </p:nvSpPr>
        <p:spPr>
          <a:xfrm>
            <a:off x="7955280" y="3493008"/>
            <a:ext cx="731520" cy="256032"/>
          </a:xfrm>
          <a:prstGeom prst="rect">
            <a:avLst/>
          </a:prstGeom>
          <a:solidFill>
            <a:srgbClr val="4A7FB5">
              <a:alpha val="15000"/>
            </a:srgbClr>
          </a:solidFill>
          <a:ln/>
        </p:spPr>
      </p:sp>
      <p:sp>
        <p:nvSpPr>
          <p:cNvPr id="31" name="Text 28"/>
          <p:cNvSpPr/>
          <p:nvPr/>
        </p:nvSpPr>
        <p:spPr>
          <a:xfrm>
            <a:off x="7955280" y="349300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A7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NÄSTA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685800" y="3383280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47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Swish för WooCommerce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685800" y="3639312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BjörnTech — Swish e-handel med BankID. Nästan halva alla digitala betalningar i Sverige.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457200" y="4050792"/>
            <a:ext cx="73152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457200" y="4050792"/>
            <a:ext cx="45720" cy="566928"/>
          </a:xfrm>
          <a:prstGeom prst="rect">
            <a:avLst/>
          </a:prstGeom>
          <a:solidFill>
            <a:srgbClr val="B48C5A"/>
          </a:solidFill>
          <a:ln/>
        </p:spPr>
      </p:sp>
      <p:sp>
        <p:nvSpPr>
          <p:cNvPr id="36" name="Shape 33"/>
          <p:cNvSpPr/>
          <p:nvPr/>
        </p:nvSpPr>
        <p:spPr>
          <a:xfrm>
            <a:off x="7955280" y="4197096"/>
            <a:ext cx="731520" cy="256032"/>
          </a:xfrm>
          <a:prstGeom prst="rect">
            <a:avLst/>
          </a:prstGeom>
          <a:solidFill>
            <a:srgbClr val="B48C5A">
              <a:alpha val="15000"/>
            </a:srgbClr>
          </a:solidFill>
          <a:ln/>
        </p:spPr>
      </p:sp>
      <p:sp>
        <p:nvSpPr>
          <p:cNvPr id="37" name="Text 34"/>
          <p:cNvSpPr/>
          <p:nvPr/>
        </p:nvSpPr>
        <p:spPr>
          <a:xfrm>
            <a:off x="7955280" y="419709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B48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PLANERAD</a:t>
            </a:r>
            <a:endParaRPr lang="en-US" sz="700" dirty="0"/>
          </a:p>
        </p:txBody>
      </p:sp>
      <p:sp>
        <p:nvSpPr>
          <p:cNvPr id="38" name="Text 35"/>
          <p:cNvSpPr/>
          <p:nvPr/>
        </p:nvSpPr>
        <p:spPr>
          <a:xfrm>
            <a:off x="685800" y="4087368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47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Trygg e-handel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685800" y="4343400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Svensk Handels certifiering. Badge på alla sidor. Kostar 6 500 kr/år men bygger förtroende.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37160"/>
            <a:ext cx="32004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1645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5667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SMÅLANDS KONTORSMÖBLER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47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Frakt &amp; Logistik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731520" cy="32004"/>
          </a:xfrm>
          <a:prstGeom prst="rect">
            <a:avLst/>
          </a:prstGeom>
          <a:solidFill>
            <a:srgbClr val="B48C5A"/>
          </a:solidFill>
          <a:ln/>
        </p:spPr>
      </p:sp>
      <p:sp>
        <p:nvSpPr>
          <p:cNvPr id="6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C3B2A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48646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48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searchboost.se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3200400" y="4864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BE7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smalandskontorsmobler.se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48646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BE7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457200" y="128016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" y="1280160"/>
            <a:ext cx="54864" cy="685800"/>
          </a:xfrm>
          <a:prstGeom prst="rect">
            <a:avLst/>
          </a:prstGeom>
          <a:solidFill>
            <a:srgbClr val="566754"/>
          </a:solidFill>
          <a:ln/>
        </p:spPr>
      </p:sp>
      <p:sp>
        <p:nvSpPr>
          <p:cNvPr id="12" name="Text 9"/>
          <p:cNvSpPr/>
          <p:nvPr/>
        </p:nvSpPr>
        <p:spPr>
          <a:xfrm>
            <a:off x="731520" y="1325880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47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Fraktjakt / Wetail Shipping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31520" y="161848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Automatisk prisberäkning för PostNord, DHL Freight, DB Schenker, DSV. Stödjer tunga/skrymmande godsringar — perfekt för möbler.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57200" y="2148840"/>
            <a:ext cx="54864" cy="685800"/>
          </a:xfrm>
          <a:prstGeom prst="rect">
            <a:avLst/>
          </a:prstGeom>
          <a:solidFill>
            <a:srgbClr val="4A8C5C"/>
          </a:solidFill>
          <a:ln/>
        </p:spPr>
      </p:sp>
      <p:sp>
        <p:nvSpPr>
          <p:cNvPr id="16" name="Text 13"/>
          <p:cNvSpPr/>
          <p:nvPr/>
        </p:nvSpPr>
        <p:spPr>
          <a:xfrm>
            <a:off x="731520" y="2194560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47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Avisering — rätt logik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31520" y="248716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Privatperson: obligatorisk avisering (490 kr). Företag: valfritt. Redan implementerat i checkout v2.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57200" y="301752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57200" y="3017520"/>
            <a:ext cx="54864" cy="685800"/>
          </a:xfrm>
          <a:prstGeom prst="rect">
            <a:avLst/>
          </a:prstGeom>
          <a:solidFill>
            <a:srgbClr val="4A7FB5"/>
          </a:solidFill>
          <a:ln/>
        </p:spPr>
      </p:sp>
      <p:sp>
        <p:nvSpPr>
          <p:cNvPr id="20" name="Text 17"/>
          <p:cNvSpPr/>
          <p:nvPr/>
        </p:nvSpPr>
        <p:spPr>
          <a:xfrm>
            <a:off x="731520" y="3063240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47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Finland + Norden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731520" y="335584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Fraktzon för Finland, Danmark, Norge redan aktiv (PostNord 129 kr, DSV 249 kr). Behöver utökade fraktalternativ.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57200" y="388620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57200" y="3886200"/>
            <a:ext cx="54864" cy="685800"/>
          </a:xfrm>
          <a:prstGeom prst="rect">
            <a:avLst/>
          </a:prstGeom>
          <a:solidFill>
            <a:srgbClr val="B48C5A"/>
          </a:solidFill>
          <a:ln/>
        </p:spPr>
      </p:sp>
      <p:sp>
        <p:nvSpPr>
          <p:cNvPr id="24" name="Text 21"/>
          <p:cNvSpPr/>
          <p:nvPr/>
        </p:nvSpPr>
        <p:spPr>
          <a:xfrm>
            <a:off x="731520" y="3931920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47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Leveranstider på produktsidan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731520" y="422452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Time-plugin: visar ”1–3 dagar” (lager) eller ”4–6 veckor” (restorder) direkt på produktkortet.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37160"/>
            <a:ext cx="32004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1645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5667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SMÅLANDS KONTORSMÖBLER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47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&amp; Användarupplevelse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731520" cy="32004"/>
          </a:xfrm>
          <a:prstGeom prst="rect">
            <a:avLst/>
          </a:prstGeom>
          <a:solidFill>
            <a:srgbClr val="B48C5A"/>
          </a:solidFill>
          <a:ln/>
        </p:spPr>
      </p:sp>
      <p:sp>
        <p:nvSpPr>
          <p:cNvPr id="6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C3B2A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48646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48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searchboost.se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3200400" y="4864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BE7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smalandskontorsmobler.se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48646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BE7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457200" y="1234440"/>
            <a:ext cx="82296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" y="1234440"/>
            <a:ext cx="45720" cy="566928"/>
          </a:xfrm>
          <a:prstGeom prst="rect">
            <a:avLst/>
          </a:prstGeom>
          <a:solidFill>
            <a:srgbClr val="566754"/>
          </a:solidFill>
          <a:ln/>
        </p:spPr>
      </p:sp>
      <p:sp>
        <p:nvSpPr>
          <p:cNvPr id="12" name="Text 9"/>
          <p:cNvSpPr/>
          <p:nvPr/>
        </p:nvSpPr>
        <p:spPr>
          <a:xfrm>
            <a:off x="731520" y="1271016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47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Mobilversion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31520" y="1527048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16px inputs (stoppar iOS-zoom), responsiv kassa, touch-vänliga knappar, hamburger-meny.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1938528"/>
            <a:ext cx="82296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57200" y="1938528"/>
            <a:ext cx="45720" cy="566928"/>
          </a:xfrm>
          <a:prstGeom prst="rect">
            <a:avLst/>
          </a:prstGeom>
          <a:solidFill>
            <a:srgbClr val="B48C5A"/>
          </a:solidFill>
          <a:ln/>
        </p:spPr>
      </p:sp>
      <p:sp>
        <p:nvSpPr>
          <p:cNvPr id="16" name="Text 13"/>
          <p:cNvSpPr/>
          <p:nvPr/>
        </p:nvSpPr>
        <p:spPr>
          <a:xfrm>
            <a:off x="731520" y="1975104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47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Produktbilder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31520" y="2231136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~60% av produkterna har bara 1 bild. Galleribilder (extra vinklar) behöver kopplas. WebP + lazy loading.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57200" y="2642616"/>
            <a:ext cx="82296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57200" y="2642616"/>
            <a:ext cx="45720" cy="566928"/>
          </a:xfrm>
          <a:prstGeom prst="rect">
            <a:avLst/>
          </a:prstGeom>
          <a:solidFill>
            <a:srgbClr val="566754"/>
          </a:solidFill>
          <a:ln/>
        </p:spPr>
      </p:sp>
      <p:sp>
        <p:nvSpPr>
          <p:cNvPr id="20" name="Text 17"/>
          <p:cNvSpPr/>
          <p:nvPr/>
        </p:nvSpPr>
        <p:spPr>
          <a:xfrm>
            <a:off x="731520" y="267919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47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Kategori-navigation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731520" y="2935224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Tydliga ikoner, snabbfilter (pris/material/typ), breadcrumbs på alla sidor.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57200" y="3346704"/>
            <a:ext cx="82296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57200" y="3346704"/>
            <a:ext cx="45720" cy="566928"/>
          </a:xfrm>
          <a:prstGeom prst="rect">
            <a:avLst/>
          </a:prstGeom>
          <a:solidFill>
            <a:srgbClr val="4A8C5C"/>
          </a:solidFill>
          <a:ln/>
        </p:spPr>
      </p:sp>
      <p:sp>
        <p:nvSpPr>
          <p:cNvPr id="24" name="Text 21"/>
          <p:cNvSpPr/>
          <p:nvPr/>
        </p:nvSpPr>
        <p:spPr>
          <a:xfrm>
            <a:off x="731520" y="338328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47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Förtroende-element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731520" y="3639312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Kundlogotyper, trustbadges, recensioner — synliga på VARJE sida. Bygger konvertering.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57200" y="4050792"/>
            <a:ext cx="82296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57200" y="4050792"/>
            <a:ext cx="45720" cy="566928"/>
          </a:xfrm>
          <a:prstGeom prst="rect">
            <a:avLst/>
          </a:prstGeom>
          <a:solidFill>
            <a:srgbClr val="4A7FB5"/>
          </a:solidFill>
          <a:ln/>
        </p:spPr>
      </p:sp>
      <p:sp>
        <p:nvSpPr>
          <p:cNvPr id="28" name="Text 25"/>
          <p:cNvSpPr/>
          <p:nvPr/>
        </p:nvSpPr>
        <p:spPr>
          <a:xfrm>
            <a:off x="731520" y="4087368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47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Hastighet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731520" y="4343400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WP Rocket + bildoptimering + CDN. Mål: under 3 sekunder på mobil. LiteSpeed Cache finns redan.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37160"/>
            <a:ext cx="32004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1645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5667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SMÅLANDS KONTORSMÖBLER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47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SEO &amp; Innehåll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731520" cy="32004"/>
          </a:xfrm>
          <a:prstGeom prst="rect">
            <a:avLst/>
          </a:prstGeom>
          <a:solidFill>
            <a:srgbClr val="B48C5A"/>
          </a:solidFill>
          <a:ln/>
        </p:spPr>
      </p:sp>
      <p:sp>
        <p:nvSpPr>
          <p:cNvPr id="6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C3B2A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48646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48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searchboost.se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3200400" y="4864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BE7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smalandskontorsmobler.se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48646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BE7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457200" y="1234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667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Tekniskt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02920" y="1655064"/>
            <a:ext cx="128016" cy="128016"/>
          </a:xfrm>
          <a:prstGeom prst="rect">
            <a:avLst/>
          </a:prstGeom>
          <a:solidFill>
            <a:srgbClr val="566754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16002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 Math PRO — schema, redirects, bild-SEO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02920" y="2002536"/>
            <a:ext cx="128016" cy="128016"/>
          </a:xfrm>
          <a:prstGeom prst="rect">
            <a:avLst/>
          </a:prstGeom>
          <a:solidFill>
            <a:srgbClr val="566754"/>
          </a:solidFill>
          <a:ln/>
        </p:spPr>
      </p:sp>
      <p:sp>
        <p:nvSpPr>
          <p:cNvPr id="14" name="Text 11"/>
          <p:cNvSpPr/>
          <p:nvPr/>
        </p:nvSpPr>
        <p:spPr>
          <a:xfrm>
            <a:off x="777240" y="194767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XML-sitemap med alla produkter + kategorier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02920" y="2350008"/>
            <a:ext cx="128016" cy="128016"/>
          </a:xfrm>
          <a:prstGeom prst="rect">
            <a:avLst/>
          </a:prstGeom>
          <a:solidFill>
            <a:srgbClr val="566754"/>
          </a:solidFill>
          <a:ln/>
        </p:spPr>
      </p:sp>
      <p:sp>
        <p:nvSpPr>
          <p:cNvPr id="16" name="Text 13"/>
          <p:cNvSpPr/>
          <p:nvPr/>
        </p:nvSpPr>
        <p:spPr>
          <a:xfrm>
            <a:off x="777240" y="229514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Canonical-taggar på alla sidor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02920" y="2697480"/>
            <a:ext cx="128016" cy="128016"/>
          </a:xfrm>
          <a:prstGeom prst="rect">
            <a:avLst/>
          </a:prstGeom>
          <a:solidFill>
            <a:srgbClr val="566754"/>
          </a:solidFill>
          <a:ln/>
        </p:spPr>
      </p:sp>
      <p:sp>
        <p:nvSpPr>
          <p:cNvPr id="18" name="Text 15"/>
          <p:cNvSpPr/>
          <p:nvPr/>
        </p:nvSpPr>
        <p:spPr>
          <a:xfrm>
            <a:off x="777240" y="264261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Strukturerad data: Product, BreadcrumbList, FAQ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02920" y="3044952"/>
            <a:ext cx="128016" cy="128016"/>
          </a:xfrm>
          <a:prstGeom prst="rect">
            <a:avLst/>
          </a:prstGeom>
          <a:solidFill>
            <a:srgbClr val="566754"/>
          </a:solidFill>
          <a:ln/>
        </p:spPr>
      </p:sp>
      <p:sp>
        <p:nvSpPr>
          <p:cNvPr id="20" name="Text 17"/>
          <p:cNvSpPr/>
          <p:nvPr/>
        </p:nvSpPr>
        <p:spPr>
          <a:xfrm>
            <a:off x="777240" y="299008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Web Vitals — mål: alla gröna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754880" y="1234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8C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Innehåll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4800600" y="1655064"/>
            <a:ext cx="128016" cy="128016"/>
          </a:xfrm>
          <a:prstGeom prst="rect">
            <a:avLst/>
          </a:prstGeom>
          <a:solidFill>
            <a:srgbClr val="B48C5A"/>
          </a:solidFill>
          <a:ln/>
        </p:spPr>
      </p:sp>
      <p:sp>
        <p:nvSpPr>
          <p:cNvPr id="23" name="Text 20"/>
          <p:cNvSpPr/>
          <p:nvPr/>
        </p:nvSpPr>
        <p:spPr>
          <a:xfrm>
            <a:off x="5074920" y="16002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 kategoritexter (klara — kort + lång SEO)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800600" y="2002536"/>
            <a:ext cx="128016" cy="128016"/>
          </a:xfrm>
          <a:prstGeom prst="rect">
            <a:avLst/>
          </a:prstGeom>
          <a:solidFill>
            <a:srgbClr val="B48C5A"/>
          </a:solidFill>
          <a:ln/>
        </p:spPr>
      </p:sp>
      <p:sp>
        <p:nvSpPr>
          <p:cNvPr id="25" name="Text 22"/>
          <p:cNvSpPr/>
          <p:nvPr/>
        </p:nvSpPr>
        <p:spPr>
          <a:xfrm>
            <a:off x="5074920" y="194767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Blogg: kontorsstol-guide, höj-sänkbart, ergonomi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800600" y="2350008"/>
            <a:ext cx="128016" cy="128016"/>
          </a:xfrm>
          <a:prstGeom prst="rect">
            <a:avLst/>
          </a:prstGeom>
          <a:solidFill>
            <a:srgbClr val="B48C5A"/>
          </a:solidFill>
          <a:ln/>
        </p:spPr>
      </p:sp>
      <p:sp>
        <p:nvSpPr>
          <p:cNvPr id="27" name="Text 24"/>
          <p:cNvSpPr/>
          <p:nvPr/>
        </p:nvSpPr>
        <p:spPr>
          <a:xfrm>
            <a:off x="5074920" y="229514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Köpguider: ”Så väljer du rätt skrivbord”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4800600" y="2697480"/>
            <a:ext cx="128016" cy="128016"/>
          </a:xfrm>
          <a:prstGeom prst="rect">
            <a:avLst/>
          </a:prstGeom>
          <a:solidFill>
            <a:srgbClr val="B48C5A"/>
          </a:solidFill>
          <a:ln/>
        </p:spPr>
      </p:sp>
      <p:sp>
        <p:nvSpPr>
          <p:cNvPr id="29" name="Text 26"/>
          <p:cNvSpPr/>
          <p:nvPr/>
        </p:nvSpPr>
        <p:spPr>
          <a:xfrm>
            <a:off x="5074920" y="264261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Trendartiklar: ”Kontorsmöbler 2026”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800600" y="3044952"/>
            <a:ext cx="128016" cy="128016"/>
          </a:xfrm>
          <a:prstGeom prst="rect">
            <a:avLst/>
          </a:prstGeom>
          <a:solidFill>
            <a:srgbClr val="B48C5A"/>
          </a:solidFill>
          <a:ln/>
        </p:spPr>
      </p:sp>
      <p:sp>
        <p:nvSpPr>
          <p:cNvPr id="31" name="Text 28"/>
          <p:cNvSpPr/>
          <p:nvPr/>
        </p:nvSpPr>
        <p:spPr>
          <a:xfrm>
            <a:off x="5074920" y="299008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Lokalt: ”Kontorsmöbler Småland”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solidFill>
            <a:srgbClr val="566754">
              <a:alpha val="10000"/>
            </a:srgbClr>
          </a:solidFill>
          <a:ln w="6350">
            <a:solidFill>
              <a:srgbClr val="566754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40080" y="38404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667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Mål: 50+ organiska besökare/dag inom 6 månader (från ~7 klick/månad idag)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37160"/>
            <a:ext cx="32004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1645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5667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SMÅLANDS KONTORSMÖBLER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47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Plugins — Komplett stack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731520" cy="32004"/>
          </a:xfrm>
          <a:prstGeom prst="rect">
            <a:avLst/>
          </a:prstGeom>
          <a:solidFill>
            <a:srgbClr val="B48C5A"/>
          </a:solidFill>
          <a:ln/>
        </p:spPr>
      </p:sp>
      <p:sp>
        <p:nvSpPr>
          <p:cNvPr id="6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C3B2A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48646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48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searchboost.se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3200400" y="4864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BE7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smalandskontorsmobler.se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48646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BE7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828800"/>
                <a:gridCol w="1371600"/>
                <a:gridCol w="1371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Plugin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675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Funktion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675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675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Kostnad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675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Rank Math PRO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SEO + schema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A8C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Installerat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~500 kr/år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WP Mail SMTP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E-postleverans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A8C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Installerat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Gratis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smk-checkout v2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B2B/B2C-kassa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A8C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Installerat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Eget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WP Rocket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Prestanda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D569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Krävs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~600 kr/år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Imagify/ShortPixel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Bildkomprimering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D569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Krävs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~400 kr/år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Fraktjakt/Wetail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Fraktberäkning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D569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Krävs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Gratis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Walley Checkout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B2B-betalning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A7FB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Planerad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Gratis plugin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Swish (BjörnTech)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Swish e-handel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A7FB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Planerad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Gratis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Klarna Checkout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Delbetalning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A7FB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Planerad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Gratis plugin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Fortnox Hub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Bokföring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A7FB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Planerad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~2 000 kr/år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 Time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Leveranstider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A7FB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Planerad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~300 kr/år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457200" y="45720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årskostnad plugins: ~4 000–6 000 kr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37160"/>
            <a:ext cx="32004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1645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5667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SMÅLANDS KONTORSMÖBLER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47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Norden &amp; Internationellt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731520" cy="32004"/>
          </a:xfrm>
          <a:prstGeom prst="rect">
            <a:avLst/>
          </a:prstGeom>
          <a:solidFill>
            <a:srgbClr val="B48C5A"/>
          </a:solidFill>
          <a:ln/>
        </p:spPr>
      </p:sp>
      <p:sp>
        <p:nvSpPr>
          <p:cNvPr id="6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C3B2A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48646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48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searchboost.se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3200400" y="4864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BE7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smalandskontorsmobler.se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48646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BE7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457200" y="1234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667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Marknader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1645920"/>
            <a:ext cx="384048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200" y="1645920"/>
            <a:ext cx="45720" cy="384048"/>
          </a:xfrm>
          <a:prstGeom prst="rect">
            <a:avLst/>
          </a:prstGeom>
          <a:solidFill>
            <a:srgbClr val="4A8C5C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" y="164592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47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Sverige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828800" y="16459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8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Aktiv — huvudmarknad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57200" y="2148840"/>
            <a:ext cx="384048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57200" y="2148840"/>
            <a:ext cx="45720" cy="384048"/>
          </a:xfrm>
          <a:prstGeom prst="rect">
            <a:avLst/>
          </a:prstGeom>
          <a:solidFill>
            <a:srgbClr val="D5694E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" y="214884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47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Finland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828800" y="21488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569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Frakt aktiv, saknar finskt innehåll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57200" y="2651760"/>
            <a:ext cx="384048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57200" y="2651760"/>
            <a:ext cx="45720" cy="384048"/>
          </a:xfrm>
          <a:prstGeom prst="rect">
            <a:avLst/>
          </a:prstGeom>
          <a:solidFill>
            <a:srgbClr val="D5694E"/>
          </a:solidFill>
          <a:ln/>
        </p:spPr>
      </p:sp>
      <p:sp>
        <p:nvSpPr>
          <p:cNvPr id="21" name="Text 18"/>
          <p:cNvSpPr/>
          <p:nvPr/>
        </p:nvSpPr>
        <p:spPr>
          <a:xfrm>
            <a:off x="640080" y="265176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47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Danmark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828800" y="265176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569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Frakt aktiv, saknar danskt innehåll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57200" y="3154680"/>
            <a:ext cx="384048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57200" y="3154680"/>
            <a:ext cx="45720" cy="384048"/>
          </a:xfrm>
          <a:prstGeom prst="rect">
            <a:avLst/>
          </a:prstGeom>
          <a:solidFill>
            <a:srgbClr val="D5694E"/>
          </a:solidFill>
          <a:ln/>
        </p:spPr>
      </p:sp>
      <p:sp>
        <p:nvSpPr>
          <p:cNvPr id="25" name="Text 22"/>
          <p:cNvSpPr/>
          <p:nvPr/>
        </p:nvSpPr>
        <p:spPr>
          <a:xfrm>
            <a:off x="640080" y="31546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47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Norge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1828800" y="31546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569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Frakt aktiv, saknar norskt innehåll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754880" y="12344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8C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Vad som krävs för Finland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4846320" y="1700784"/>
            <a:ext cx="128016" cy="128016"/>
          </a:xfrm>
          <a:prstGeom prst="rect">
            <a:avLst/>
          </a:prstGeom>
          <a:solidFill>
            <a:srgbClr val="B48C5A"/>
          </a:solidFill>
          <a:ln/>
        </p:spPr>
      </p:sp>
      <p:sp>
        <p:nvSpPr>
          <p:cNvPr id="29" name="Text 26"/>
          <p:cNvSpPr/>
          <p:nvPr/>
        </p:nvSpPr>
        <p:spPr>
          <a:xfrm>
            <a:off x="5120640" y="164592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Polylang: finska översättningar (nyckelsidor)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846320" y="2066544"/>
            <a:ext cx="128016" cy="128016"/>
          </a:xfrm>
          <a:prstGeom prst="rect">
            <a:avLst/>
          </a:prstGeom>
          <a:solidFill>
            <a:srgbClr val="B48C5A"/>
          </a:solidFill>
          <a:ln/>
        </p:spPr>
      </p:sp>
      <p:sp>
        <p:nvSpPr>
          <p:cNvPr id="31" name="Text 28"/>
          <p:cNvSpPr/>
          <p:nvPr/>
        </p:nvSpPr>
        <p:spPr>
          <a:xfrm>
            <a:off x="5120640" y="201168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Valutavisning: EUR vid finsk IP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4846320" y="2432304"/>
            <a:ext cx="128016" cy="128016"/>
          </a:xfrm>
          <a:prstGeom prst="rect">
            <a:avLst/>
          </a:prstGeom>
          <a:solidFill>
            <a:srgbClr val="B48C5A"/>
          </a:solidFill>
          <a:ln/>
        </p:spPr>
      </p:sp>
      <p:sp>
        <p:nvSpPr>
          <p:cNvPr id="33" name="Text 30"/>
          <p:cNvSpPr/>
          <p:nvPr/>
        </p:nvSpPr>
        <p:spPr>
          <a:xfrm>
            <a:off x="5120640" y="23774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Fraktzon Finland med rätt priser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4846320" y="2798064"/>
            <a:ext cx="128016" cy="128016"/>
          </a:xfrm>
          <a:prstGeom prst="rect">
            <a:avLst/>
          </a:prstGeom>
          <a:solidFill>
            <a:srgbClr val="B48C5A"/>
          </a:solidFill>
          <a:ln/>
        </p:spPr>
      </p:sp>
      <p:sp>
        <p:nvSpPr>
          <p:cNvPr id="35" name="Text 32"/>
          <p:cNvSpPr/>
          <p:nvPr/>
        </p:nvSpPr>
        <p:spPr>
          <a:xfrm>
            <a:off x="5120640" y="274320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Finska betalmetoder (OP, Nordea)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846320" y="3163824"/>
            <a:ext cx="128016" cy="128016"/>
          </a:xfrm>
          <a:prstGeom prst="rect">
            <a:avLst/>
          </a:prstGeom>
          <a:solidFill>
            <a:srgbClr val="B48C5A"/>
          </a:solidFill>
          <a:ln/>
        </p:spPr>
      </p:sp>
      <p:sp>
        <p:nvSpPr>
          <p:cNvPr id="37" name="Text 34"/>
          <p:cNvSpPr/>
          <p:nvPr/>
        </p:nvSpPr>
        <p:spPr>
          <a:xfrm>
            <a:off x="5120640" y="31089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Momshantering: finsk moms 25,5%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4846320" y="3529584"/>
            <a:ext cx="128016" cy="128016"/>
          </a:xfrm>
          <a:prstGeom prst="rect">
            <a:avLst/>
          </a:prstGeom>
          <a:solidFill>
            <a:srgbClr val="B48C5A"/>
          </a:solidFill>
          <a:ln/>
        </p:spPr>
      </p:sp>
      <p:sp>
        <p:nvSpPr>
          <p:cNvPr id="39" name="Text 36"/>
          <p:cNvSpPr/>
          <p:nvPr/>
        </p:nvSpPr>
        <p:spPr>
          <a:xfrm>
            <a:off x="5120640" y="347472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Kundservice på finska eller engelska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37160"/>
            <a:ext cx="32004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1645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5667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SMÅLANDS KONTORSMÖBLER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47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Åtgärdsplan — Fas 1–3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731520" cy="32004"/>
          </a:xfrm>
          <a:prstGeom prst="rect">
            <a:avLst/>
          </a:prstGeom>
          <a:solidFill>
            <a:srgbClr val="B48C5A"/>
          </a:solidFill>
          <a:ln/>
        </p:spPr>
      </p:sp>
      <p:sp>
        <p:nvSpPr>
          <p:cNvPr id="6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C3B2A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48646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48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searchboost.se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3200400" y="4864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BE7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smalandskontorsmobler.se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48646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BE7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5943600"/>
                <a:gridCol w="1097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675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Åtgärd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675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675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D569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SMTP-lösenord + testa orderbekräftelse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dag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D569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Koppla Rank Math PRO-licens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min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D569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Installera WP Rocket + bildoptimering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dag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D569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Koppla galleribilder till produkter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2–3 dagar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B48C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Fraktjakt/Wetail + leveranstids-plugin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dagar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B48C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Walley Checkout (B2B-faktura)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1–2 dagar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B48C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Swish + Klarna betalmetoder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dag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B48C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Mobiloptimering + UX-förbättringar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2–3 dagar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A8C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Trygg e-handel-certifiering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1–2 veckor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A8C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SEO: schema, sitemap, meta på alla produkter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Löpande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A8C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Finland-lansering (språk + frakt + moms)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1–2 veckor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A8C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Fortnox-integration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1–2 dagar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37160"/>
            <a:ext cx="32004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1645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5667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SMÅLANDS KONTORSMÖBLER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47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Mål &amp; KPI:er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731520" cy="32004"/>
          </a:xfrm>
          <a:prstGeom prst="rect">
            <a:avLst/>
          </a:prstGeom>
          <a:solidFill>
            <a:srgbClr val="B48C5A"/>
          </a:solidFill>
          <a:ln/>
        </p:spPr>
      </p:sp>
      <p:sp>
        <p:nvSpPr>
          <p:cNvPr id="6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C3B2A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48646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48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searchboost.se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3200400" y="4864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BE7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smalandskontorsmobler.se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48646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BE7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457200" y="1371600"/>
            <a:ext cx="192024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" y="1371600"/>
            <a:ext cx="1920240" cy="45720"/>
          </a:xfrm>
          <a:prstGeom prst="rect">
            <a:avLst/>
          </a:prstGeom>
          <a:solidFill>
            <a:srgbClr val="566754"/>
          </a:solidFill>
          <a:ln/>
        </p:spPr>
      </p:sp>
      <p:sp>
        <p:nvSpPr>
          <p:cNvPr id="12" name="Text 9"/>
          <p:cNvSpPr/>
          <p:nvPr/>
        </p:nvSpPr>
        <p:spPr>
          <a:xfrm>
            <a:off x="457200" y="155448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667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3s</a:t>
            </a:r>
            <a:endParaRPr lang="en-US" sz="4000" dirty="0"/>
          </a:p>
        </p:txBody>
      </p:sp>
      <p:sp>
        <p:nvSpPr>
          <p:cNvPr id="13" name="Text 10"/>
          <p:cNvSpPr/>
          <p:nvPr/>
        </p:nvSpPr>
        <p:spPr>
          <a:xfrm>
            <a:off x="594360" y="24688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47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Laddningstid mobil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94360" y="30175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Från ~5–8s idag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2560320" y="1371600"/>
            <a:ext cx="192024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560320" y="1371600"/>
            <a:ext cx="1920240" cy="45720"/>
          </a:xfrm>
          <a:prstGeom prst="rect">
            <a:avLst/>
          </a:prstGeom>
          <a:solidFill>
            <a:srgbClr val="4A8C5C"/>
          </a:solidFill>
          <a:ln/>
        </p:spPr>
      </p:sp>
      <p:sp>
        <p:nvSpPr>
          <p:cNvPr id="17" name="Text 14"/>
          <p:cNvSpPr/>
          <p:nvPr/>
        </p:nvSpPr>
        <p:spPr>
          <a:xfrm>
            <a:off x="2560320" y="155448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A8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50+</a:t>
            </a:r>
            <a:endParaRPr lang="en-US" sz="4000" dirty="0"/>
          </a:p>
        </p:txBody>
      </p:sp>
      <p:sp>
        <p:nvSpPr>
          <p:cNvPr id="18" name="Text 15"/>
          <p:cNvSpPr/>
          <p:nvPr/>
        </p:nvSpPr>
        <p:spPr>
          <a:xfrm>
            <a:off x="2697480" y="24688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47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Organiska besökare/dag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2697480" y="30175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Från ~7 klick/mån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663440" y="1371600"/>
            <a:ext cx="192024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663440" y="1371600"/>
            <a:ext cx="1920240" cy="45720"/>
          </a:xfrm>
          <a:prstGeom prst="rect">
            <a:avLst/>
          </a:prstGeom>
          <a:solidFill>
            <a:srgbClr val="D5694E"/>
          </a:solidFill>
          <a:ln/>
        </p:spPr>
      </p:sp>
      <p:sp>
        <p:nvSpPr>
          <p:cNvPr id="22" name="Text 19"/>
          <p:cNvSpPr/>
          <p:nvPr/>
        </p:nvSpPr>
        <p:spPr>
          <a:xfrm>
            <a:off x="4663440" y="155448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569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95%</a:t>
            </a:r>
            <a:endParaRPr lang="en-US" sz="4000" dirty="0"/>
          </a:p>
        </p:txBody>
      </p:sp>
      <p:sp>
        <p:nvSpPr>
          <p:cNvPr id="23" name="Text 20"/>
          <p:cNvSpPr/>
          <p:nvPr/>
        </p:nvSpPr>
        <p:spPr>
          <a:xfrm>
            <a:off x="4800600" y="24688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47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Mejl levererade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800600" y="30175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Från 0% idag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766560" y="1371600"/>
            <a:ext cx="192024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766560" y="1371600"/>
            <a:ext cx="1920240" cy="45720"/>
          </a:xfrm>
          <a:prstGeom prst="rect">
            <a:avLst/>
          </a:prstGeom>
          <a:solidFill>
            <a:srgbClr val="B48C5A"/>
          </a:solidFill>
          <a:ln/>
        </p:spPr>
      </p:sp>
      <p:sp>
        <p:nvSpPr>
          <p:cNvPr id="27" name="Text 24"/>
          <p:cNvSpPr/>
          <p:nvPr/>
        </p:nvSpPr>
        <p:spPr>
          <a:xfrm>
            <a:off x="6766560" y="155448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48C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4000" dirty="0"/>
          </a:p>
        </p:txBody>
      </p:sp>
      <p:sp>
        <p:nvSpPr>
          <p:cNvPr id="28" name="Text 25"/>
          <p:cNvSpPr/>
          <p:nvPr/>
        </p:nvSpPr>
        <p:spPr>
          <a:xfrm>
            <a:off x="6903720" y="24688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47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Nordiska marknader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903720" y="30175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+ FI + DK + NO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solidFill>
            <a:srgbClr val="566754">
              <a:alpha val="8000"/>
            </a:srgbClr>
          </a:solidFill>
          <a:ln w="6350">
            <a:solidFill>
              <a:srgbClr val="566754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40080" y="40233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5667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Mål: Inom 3 månader ska smalandskontorsmobler.se kännas som Kinnarps lilla syster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600000">
            <a:off x="5486400" y="-914400"/>
            <a:ext cx="5486400" cy="7315200"/>
          </a:xfrm>
          <a:prstGeom prst="rect">
            <a:avLst/>
          </a:prstGeom>
          <a:solidFill>
            <a:srgbClr val="566754">
              <a:alpha val="95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3716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1645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5667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SMÅLANDS KONTORSMÖBLER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47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Nästa Steg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57200" y="1051560"/>
            <a:ext cx="731520" cy="32004"/>
          </a:xfrm>
          <a:prstGeom prst="rect">
            <a:avLst/>
          </a:prstGeom>
          <a:solidFill>
            <a:srgbClr val="B48C5A"/>
          </a:solidFill>
          <a:ln/>
        </p:spPr>
      </p:sp>
      <p:sp>
        <p:nvSpPr>
          <p:cNvPr id="7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C3B2A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8646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48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searchboost.se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200400" y="4864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BE7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smalandskontorsmobler.se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229600" y="48646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BE7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457200" y="1280160"/>
            <a:ext cx="548640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200" y="1280160"/>
            <a:ext cx="45720" cy="438912"/>
          </a:xfrm>
          <a:prstGeom prst="rect">
            <a:avLst/>
          </a:prstGeom>
          <a:solidFill>
            <a:srgbClr val="D5694E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" y="1280160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569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051560" y="1280160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47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Sätt SMTP-lösenord + testa mejl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548640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57200" y="1828800"/>
            <a:ext cx="45720" cy="438912"/>
          </a:xfrm>
          <a:prstGeom prst="rect">
            <a:avLst/>
          </a:prstGeom>
          <a:solidFill>
            <a:srgbClr val="D5694E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" y="1828800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569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051560" y="1828800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47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Koppla Rank Math PRO-licens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57200" y="2377440"/>
            <a:ext cx="548640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57200" y="2377440"/>
            <a:ext cx="45720" cy="438912"/>
          </a:xfrm>
          <a:prstGeom prst="rect">
            <a:avLst/>
          </a:prstGeom>
          <a:solidFill>
            <a:srgbClr val="B48C5A"/>
          </a:solidFill>
          <a:ln/>
        </p:spPr>
      </p:sp>
      <p:sp>
        <p:nvSpPr>
          <p:cNvPr id="21" name="Text 18"/>
          <p:cNvSpPr/>
          <p:nvPr/>
        </p:nvSpPr>
        <p:spPr>
          <a:xfrm>
            <a:off x="640080" y="2377440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48C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051560" y="2377440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47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Koppla galleribilder till produkter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457200" y="2926080"/>
            <a:ext cx="548640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57200" y="2926080"/>
            <a:ext cx="45720" cy="438912"/>
          </a:xfrm>
          <a:prstGeom prst="rect">
            <a:avLst/>
          </a:prstGeom>
          <a:solidFill>
            <a:srgbClr val="566754"/>
          </a:solidFill>
          <a:ln/>
        </p:spPr>
      </p:sp>
      <p:sp>
        <p:nvSpPr>
          <p:cNvPr id="25" name="Text 22"/>
          <p:cNvSpPr/>
          <p:nvPr/>
        </p:nvSpPr>
        <p:spPr>
          <a:xfrm>
            <a:off x="640080" y="2926080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667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1051560" y="2926080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47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Installera prestanda-plugins + mobilfix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457200" y="3474720"/>
            <a:ext cx="548640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57200" y="3474720"/>
            <a:ext cx="45720" cy="438912"/>
          </a:xfrm>
          <a:prstGeom prst="rect">
            <a:avLst/>
          </a:prstGeom>
          <a:solidFill>
            <a:srgbClr val="566754"/>
          </a:solidFill>
          <a:ln/>
        </p:spPr>
      </p:sp>
      <p:sp>
        <p:nvSpPr>
          <p:cNvPr id="29" name="Text 26"/>
          <p:cNvSpPr/>
          <p:nvPr/>
        </p:nvSpPr>
        <p:spPr>
          <a:xfrm>
            <a:off x="640080" y="3474720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667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1051560" y="3474720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47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Betallösningar: Walley + Swish + Klarna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457200" y="4023360"/>
            <a:ext cx="548640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457200" y="4023360"/>
            <a:ext cx="45720" cy="438912"/>
          </a:xfrm>
          <a:prstGeom prst="rect">
            <a:avLst/>
          </a:prstGeom>
          <a:solidFill>
            <a:srgbClr val="4A8C5C"/>
          </a:solidFill>
          <a:ln/>
        </p:spPr>
      </p:sp>
      <p:sp>
        <p:nvSpPr>
          <p:cNvPr id="33" name="Text 30"/>
          <p:cNvSpPr/>
          <p:nvPr/>
        </p:nvSpPr>
        <p:spPr>
          <a:xfrm>
            <a:off x="640080" y="4023360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8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1051560" y="4023360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47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Finland-lansering</a:t>
            </a:r>
            <a:endParaRPr lang="en-US" sz="1300" dirty="0"/>
          </a:p>
        </p:txBody>
      </p:sp>
      <p:sp>
        <p:nvSpPr>
          <p:cNvPr id="35" name="Shape 32"/>
          <p:cNvSpPr/>
          <p:nvPr/>
        </p:nvSpPr>
        <p:spPr>
          <a:xfrm>
            <a:off x="457200" y="4526280"/>
            <a:ext cx="2743200" cy="32004"/>
          </a:xfrm>
          <a:prstGeom prst="rect">
            <a:avLst/>
          </a:prstGeom>
          <a:solidFill>
            <a:srgbClr val="B48C5A"/>
          </a:solidFill>
          <a:ln/>
        </p:spPr>
      </p:sp>
      <p:sp>
        <p:nvSpPr>
          <p:cNvPr id="36" name="Text 33"/>
          <p:cNvSpPr/>
          <p:nvPr/>
        </p:nvSpPr>
        <p:spPr>
          <a:xfrm>
            <a:off x="457200" y="4114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667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mikael@searchboost.se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searchboost.se</a:t>
            </a:r>
            <a:endParaRPr lang="en-US" sz="1300" dirty="0"/>
          </a:p>
        </p:txBody>
      </p:sp>
      <p:pic>
        <p:nvPicPr>
          <p:cNvPr id="3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023360"/>
            <a:ext cx="640080" cy="6400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Internationell Kvalitet — Smålands Kontorsmöbler</dc:title>
  <dc:subject>PptxGenJS Presentation</dc:subject>
  <dc:creator>Searchboost</dc:creator>
  <cp:lastModifiedBy>Searchboost</cp:lastModifiedBy>
  <cp:revision>1</cp:revision>
  <dcterms:created xsi:type="dcterms:W3CDTF">2026-04-03T10:13:54Z</dcterms:created>
  <dcterms:modified xsi:type="dcterms:W3CDTF">2026-04-03T10:13:54Z</dcterms:modified>
</cp:coreProperties>
</file>