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8100" cy="32004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011680" cy="6510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BA3E0"/>
                </a:solidFill>
                <a:latin typeface="Calibri"/>
              </a:rPr>
              <a:t>SEARCHBOOST × TOBLER STÄLLNINGSPRODUKTER 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Calibri"/>
              </a:rPr>
              <a:t>Titta vad vi</a:t>
            </a:r>
          </a:p>
          <a:p>
            <a:pPr algn="l"/>
            <a:r>
              <a:rPr sz="4000" b="1">
                <a:solidFill>
                  <a:srgbClr val="F0D000"/>
                </a:solidFill>
                <a:latin typeface="Calibri"/>
              </a:rPr>
              <a:t>åstadkommit</a:t>
            </a:r>
          </a:p>
          <a:p>
            <a:pPr algn="l"/>
            <a:r>
              <a:rPr sz="4000" b="1">
                <a:solidFill>
                  <a:srgbClr val="5BA3E0"/>
                </a:solidFill>
                <a:latin typeface="Calibri"/>
              </a:rPr>
              <a:t>tillsammans.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A88AA"/>
                </a:solidFill>
                <a:latin typeface="Calibri"/>
              </a:rPr>
              <a:t>Statusmöte april 2026 — resultat, siffror och nästa kapitel.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486400"/>
            <a:ext cx="5943600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Tobler.se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Ställningsprodukter &amp;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623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16 april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897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Vecka 16-möte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623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Mikael Larsson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897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Searchboost.se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24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LEVERERAT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Allt vi byggt — på kort tid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743200" cy="169164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D000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Artiklar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10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publicerade sedan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2424" y="2240280"/>
            <a:ext cx="2743200" cy="169164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2468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5BA3E0"/>
                </a:solidFill>
                <a:latin typeface="Calibri"/>
              </a:rPr>
              <a:t>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081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3410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alt-texter optimerade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2240280"/>
            <a:ext cx="2743200" cy="169164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468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2508E"/>
                </a:solidFill>
                <a:latin typeface="Calibri"/>
              </a:rPr>
              <a:t>135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081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Meta-beskrivningar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410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skrivna &amp; publicerade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62872" y="2240280"/>
            <a:ext cx="2743200" cy="169164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2468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2508E"/>
                </a:solidFill>
                <a:latin typeface="Calibri"/>
              </a:rPr>
              <a:t>196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081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Produkter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410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upp från 95 vid start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11277295" cy="1234440"/>
          </a:xfrm>
          <a:prstGeom prst="rect">
            <a:avLst/>
          </a:prstGeom>
          <a:solidFill>
            <a:srgbClr val="0E1A2E"/>
          </a:solidFill>
          <a:ln w="9525">
            <a:solidFill>
              <a:srgbClr val="F0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197096"/>
            <a:ext cx="10948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PRODUKTKATALOG NÄSTINTILL FÖRDUBBLAD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489704"/>
            <a:ext cx="1094811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Från 95 produkter vid start till 196 produkter idag. Fler produkter ger Google fler relevanta sidor att indexera — och fler köpmöjligheter. Varje ny produkt är en potentiell landningssida för en köpare som söker exakt det Tobler säljer.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18 artiklar · 284 bilder · 135 meta · 196 produkter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0D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A3E0"/>
                </a:solidFill>
                <a:latin typeface="Calibri"/>
              </a:rPr>
              <a:t>SÖKORDSRESAN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Från ~12 sökord till 43+ — och uppåt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303520" cy="1005840"/>
          </a:xfrm>
          <a:prstGeom prst="rect">
            <a:avLst/>
          </a:prstGeom>
          <a:solidFill>
            <a:srgbClr val="0D1A2E"/>
          </a:solidFill>
          <a:ln w="9525">
            <a:solidFill>
              <a:srgbClr val="325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6829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VID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60904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~12 sökord med rörelse. Begränsad synlighet på Google.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303520" cy="1188720"/>
          </a:xfrm>
          <a:prstGeom prst="rect">
            <a:avLst/>
          </a:prstGeom>
          <a:solidFill>
            <a:srgbClr val="0E1A2E"/>
          </a:solidFill>
          <a:ln w="9525">
            <a:solidFill>
              <a:srgbClr val="F0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6557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IDAG —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758184"/>
            <a:ext cx="4974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43+ sökord med stark uppåtrörelse. Google visar Tobler på 5 500 sökningar/månad — och det ökar för varje vecka.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5303520" cy="762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3977639" cy="76200"/>
          </a:xfrm>
          <a:prstGeom prst="rect">
            <a:avLst/>
          </a:prstGeom>
          <a:solidFill>
            <a:srgbClr val="F0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8AA"/>
                </a:solidFill>
                <a:latin typeface="Calibri"/>
              </a:rPr>
              <a:t>Start: ~12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773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Nu: 43+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402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8AA"/>
                </a:solidFill>
                <a:latin typeface="Calibri"/>
              </a:rPr>
              <a:t>SÖKORDSKLÄTTRARE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2706624"/>
            <a:ext cx="88900" cy="88900"/>
          </a:xfrm>
          <a:prstGeom prst="rect">
            <a:avLst/>
          </a:prstGeom>
          <a:solidFill>
            <a:srgbClr val="F0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57860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ramställningspaket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85292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+28 platser — stark rörelse uppåt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3255264"/>
            <a:ext cx="88900" cy="88900"/>
          </a:xfrm>
          <a:prstGeom prst="rect">
            <a:avLst/>
          </a:prstGeom>
          <a:solidFill>
            <a:srgbClr val="F0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1272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sparklist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40156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Position 4 — topplacering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3803903"/>
            <a:ext cx="88900" cy="88900"/>
          </a:xfrm>
          <a:prstGeom prst="rect">
            <a:avLst/>
          </a:prstGeom>
          <a:solidFill>
            <a:srgbClr val="F0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675887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u 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950207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Position 3,5 — topplacering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352543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224527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fallskydd till tak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498847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Pelarartikeln indexerad — klättrar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4901184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7731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startpaket ställning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504748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Pelarartikeln indexerad — klättrar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5449824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532180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formsystem betonggjutning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59612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Pelarartikeln indexerad — klättrar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Rankning · Klättrare · Synlighet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07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MARS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Rekordet är satt — kurvan pekar uppåt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3566160" cy="169164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2508E"/>
                </a:solidFill>
                <a:latin typeface="Calibri"/>
              </a:rPr>
              <a:t>REKORD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Impressioner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107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Bästa månaden hittills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2240280"/>
            <a:ext cx="3566160" cy="169164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24688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D000"/>
                </a:solidFill>
                <a:latin typeface="Calibri"/>
              </a:rPr>
              <a:t>REKORD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30815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34107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Fler besökare än någonsin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8" y="2240280"/>
            <a:ext cx="3566160" cy="169164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24688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5BA3E0"/>
                </a:solidFill>
                <a:latin typeface="Calibri"/>
              </a:rPr>
              <a:t>43+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30815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Sökord med rörelse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4107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Upp från ~12 vid start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394960" cy="1234440"/>
          </a:xfrm>
          <a:prstGeom prst="rect">
            <a:avLst/>
          </a:prstGeom>
          <a:solidFill>
            <a:srgbClr val="0D1A2E"/>
          </a:solidFill>
          <a:ln w="9525">
            <a:solidFill>
              <a:srgbClr val="5B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197096"/>
            <a:ext cx="5065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A3E0"/>
                </a:solidFill>
                <a:latin typeface="Calibri"/>
              </a:rPr>
              <a:t>VARFÖR HÄNDER DET NU?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489704"/>
            <a:ext cx="50657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Pelarartiklarna + 135 meta-beskrivningar + internlänkar börjar ge fullt genomslag. SEO är en rörlig kurva — och kurvan pekar uppåt. Nästa artikelbatch accelererar detta ytterligare.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069080"/>
            <a:ext cx="5669280" cy="1234440"/>
          </a:xfrm>
          <a:prstGeom prst="rect">
            <a:avLst/>
          </a:prstGeom>
          <a:solidFill>
            <a:srgbClr val="0D1A2E"/>
          </a:solidFill>
          <a:ln w="9525">
            <a:solidFill>
              <a:srgbClr val="325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4197096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EN SAK SOM BROMSAT 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489704"/>
            <a:ext cx="5340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Sajten har utsatts för automatiserade inloggningsförsök — vanlig attackform mot WooCommerce. Google är försiktig med crawlbudget på sajter med ovanlig bot-trafik. Det är nu åtgärdat, vilket frigör Googles kapacitet att indexera 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GSC-data · Impressioner · Klick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07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MÖJLIGHETER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43 möjligheter — vi ser dem, vi tar dem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766560" cy="1051560"/>
          </a:xfrm>
          <a:prstGeom prst="rect">
            <a:avLst/>
          </a:prstGeom>
          <a:solidFill>
            <a:srgbClr val="0D1A2E"/>
          </a:solidFill>
          <a:ln w="9525">
            <a:solidFill>
              <a:srgbClr val="325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68296"/>
            <a:ext cx="6437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VAD DE 43 SÖKORDSPOSITIONERNA BERÄTTAR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60904"/>
            <a:ext cx="6437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Google visar redan Tobler.se på 5 500 sökningar per månad. Det är potentiella kunder som söker och hittar er. Vi ser 43 sökord där en optimerad sida eller artikel kan lyfta Tobler till topp 5 — där majoriteten av klicken sker.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6766560" cy="1005840"/>
          </a:xfrm>
          <a:prstGeom prst="rect">
            <a:avLst/>
          </a:prstGeom>
          <a:solidFill>
            <a:srgbClr val="0E1A2E"/>
          </a:solidFill>
          <a:ln w="9525">
            <a:solidFill>
              <a:srgbClr val="F0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557016"/>
            <a:ext cx="6437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DET ÄR EN POSITIV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849624"/>
            <a:ext cx="64373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Att Google visar er på 5 500 sökningar bekräftar att algoritmen ser Tobler som relevant. Nu handlar det om att ta de sista stegen in i topp 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2402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8AA"/>
                </a:solidFill>
                <a:latin typeface="Calibri"/>
              </a:rPr>
              <a:t>MÖJLIGHETER VI TAR NÄST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34655" y="2734056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2606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köpa ramställning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28803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Hög köpavsikt — stark landningssida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34655" y="3310128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7" y="318211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ställningsentreprenör certifiering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7" y="345643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Ny artikel planerad — vecka 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34655" y="3886200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7" y="3758184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modulställning pris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7" y="4032504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Kommersielt sökord — produkt + artikel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5" y="4462272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7" y="4334256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fallskydd arbete på hög höjd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7" y="4608576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Planerat i nästa batch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34655" y="5038344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9247" y="491032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ställningstrailer pris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7" y="5184648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Nisch — låg konkurrens, högt 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43 möjligheter · 5 500 visningar/mån · Konvertering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0D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A3E0"/>
                </a:solidFill>
                <a:latin typeface="Calibri"/>
              </a:rPr>
              <a:t>E-HANDEL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Ni vill satsa på e-handel — vi bygger det rätt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77840" cy="1097280"/>
          </a:xfrm>
          <a:prstGeom prst="rect">
            <a:avLst/>
          </a:prstGeom>
          <a:solidFill>
            <a:srgbClr val="0E1A2E"/>
          </a:solidFill>
          <a:ln w="9525">
            <a:solidFill>
              <a:srgbClr val="F0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68296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OPTIMERAD E-HANDEL — RÄTT FRÅN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60904"/>
            <a:ext cx="5248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Vi bygger om er butik med SEO som grund — snabb laddning, rätt struktur, rätt schema-markup. Vi optimerar det ni redan har och lyfter det till nästa nivå.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577840" cy="1097280"/>
          </a:xfrm>
          <a:prstGeom prst="rect">
            <a:avLst/>
          </a:prstGeom>
          <a:solidFill>
            <a:srgbClr val="0D1A2E"/>
          </a:solidFill>
          <a:ln w="9525">
            <a:solidFill>
              <a:srgbClr val="5B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602736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A3E0"/>
                </a:solidFill>
                <a:latin typeface="Calibri"/>
              </a:rPr>
              <a:t>SEO + E-HANDEL HAND I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895344"/>
            <a:ext cx="5248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Varje artikel som rankar driver trafik direkt till produktkategorin. Produktsidor byggs med schema-markup och tydliga internlänkar.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8AA"/>
                </a:solidFill>
                <a:latin typeface="Calibri"/>
              </a:rPr>
              <a:t>VAD VI BYGGER IHOP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97480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196 produkter strukturerade för sök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Kategoristruktur optimerad för söktermer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03320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611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Produktsidor med schema-markup (rich results)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Internlänkar från artiklar till produkter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617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Snabb laddning — Core Web Vitals i grönt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212080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120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Mobilanpassad vy — B2B köper på mobil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5577840" cy="822960"/>
          </a:xfrm>
          <a:prstGeom prst="rect">
            <a:avLst/>
          </a:prstGeom>
          <a:solidFill>
            <a:srgbClr val="122218"/>
          </a:solidFill>
          <a:ln w="12700">
            <a:solidFill>
              <a:srgbClr val="325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64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INVESTERING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0932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20–25 000 kr engångskostnad — resultaten lever kvar och förstärks av SEO-arbetet.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WooCommerce · Schema · Konvertering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07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NÄSTA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Google Ads — träffsäkert på era bästa sökord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77840" cy="1143000"/>
          </a:xfrm>
          <a:prstGeom prst="rect">
            <a:avLst/>
          </a:prstGeom>
          <a:solidFill>
            <a:srgbClr val="0D1A2E"/>
          </a:solidFill>
          <a:ln w="9525">
            <a:solidFill>
              <a:srgbClr val="325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68296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VARFÖR ADS PASSAR TOBLER 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60904"/>
            <a:ext cx="5248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SEO ger er organisk grund — Ads ger er omedelbar synlighet på de sökord ni vet konverterar. När någon söker 'startpaket ställning' är de redo att beställa. Då vill ni synas.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5577840" cy="1143000"/>
          </a:xfrm>
          <a:prstGeom prst="rect">
            <a:avLst/>
          </a:prstGeom>
          <a:solidFill>
            <a:srgbClr val="0E1A2E"/>
          </a:solidFill>
          <a:ln w="9525">
            <a:solidFill>
              <a:srgbClr val="F0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648456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SEO + ADS = DUBBEL SYNLIGHET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941064"/>
            <a:ext cx="5248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Ni rankar organiskt OCH syns i annonsplatsen. Dubbelt förtroende, dubbla klick-möjligheter. Konkurrenter som bara kör Ads saknar er trovärdighet.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8AA"/>
                </a:solidFill>
                <a:latin typeface="Calibri"/>
              </a:rPr>
              <a:t>PRIORITERADE SÖKORD FÖR 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376" y="2734056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60604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startpaket ställning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8803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Hög köpavsikt, nisch — bra ROI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7376" y="3310128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18211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köpa ställning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45643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Bred term — volym + köpavsikt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37376" y="3886200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75818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ramställningspaket pris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03250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Prissökning = nära köp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4462272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33425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ställningstrailer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608576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Nischprodukt — låg konkurrens i Ads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37376" y="5038344"/>
            <a:ext cx="88900" cy="889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91032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fallskydd tak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518464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B2B-köpare — högt ordervärde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Google Ads · Köpavsikt · ROI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07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508E"/>
                </a:solidFill>
                <a:latin typeface="Calibri"/>
              </a:rPr>
              <a:t>ERBJUDANDET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"Öka takten"-paketet — april, maj, juni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8AA"/>
                </a:solidFill>
                <a:latin typeface="Calibri"/>
              </a:rPr>
              <a:t>VAD INGÅR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Ny e-handelssajt — snabb, SEO-optimerad, konverteringsredo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27832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181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Rank Math Pro med AI — bättre metadata automatiskt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39896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301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2 artiklar per vecka (dubbel nuvarande takt)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422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1 LinkedIn-inlägg per vecka — bygg varumärket mot B2B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64024"/>
            <a:ext cx="88900" cy="88900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5429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Löpande teknisk SEO + internlänkning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5943600" cy="658368"/>
          </a:xfrm>
          <a:prstGeom prst="rect">
            <a:avLst/>
          </a:prstGeom>
          <a:solidFill>
            <a:srgbClr val="0E1A2E"/>
          </a:solidFill>
          <a:ln w="9525">
            <a:solidFill>
              <a:srgbClr val="F0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340096"/>
            <a:ext cx="5614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EFTER JUNI — HELT UPP TILL 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632704"/>
            <a:ext cx="56144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Inga bindningstider. Inga dolda avgifter. Ni bestämmer. Det är så Searchboost jobbar.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240280"/>
            <a:ext cx="5029200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3A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A88AA"/>
                </a:solidFill>
                <a:latin typeface="Calibri"/>
              </a:rPr>
              <a:t>MÅNADSVIS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7432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7 000 kr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47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88AA"/>
                </a:solidFill>
                <a:latin typeface="Calibri"/>
              </a:rPr>
              <a:t>per månad ×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343400"/>
            <a:ext cx="5029200" cy="1920240"/>
          </a:xfrm>
          <a:prstGeom prst="rect">
            <a:avLst/>
          </a:prstGeom>
          <a:solidFill>
            <a:srgbClr val="181004"/>
          </a:solidFill>
          <a:ln w="25400">
            <a:solidFill>
              <a:srgbClr val="325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251960"/>
            <a:ext cx="1920240" cy="256032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26110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BÄSTA PRISET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A88AA"/>
                </a:solidFill>
                <a:latin typeface="Calibri"/>
              </a:rPr>
              <a:t>BETALA HELA PERIODEN NU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81888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2508E"/>
                </a:solidFill>
                <a:latin typeface="Calibri"/>
              </a:rPr>
              <a:t>18 000 kr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623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88AA"/>
                </a:solidFill>
                <a:latin typeface="Calibri"/>
              </a:rPr>
              <a:t>april — juni, allt inkluderat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Inga bindningstider · Transparens · No strings attached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1463040" cy="473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88AA"/>
                </a:solidFill>
                <a:latin typeface="Calibri"/>
              </a:rPr>
              <a:t>Tobler Ställningsprodukter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A3E0"/>
                </a:solidFill>
                <a:latin typeface="Calibri"/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463040" cy="256032"/>
          </a:xfrm>
          <a:prstGeom prst="rect">
            <a:avLst/>
          </a:prstGeom>
          <a:solidFill>
            <a:srgbClr val="24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25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D000"/>
                </a:solidFill>
                <a:latin typeface="Calibri"/>
              </a:rPr>
              <a:t>BEVISAT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Sajten säljer redan — nu ska den sälja 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88AA"/>
                </a:solidFill>
                <a:latin typeface="Calibri"/>
              </a:rPr>
              <a:t>15 beställningar i WooCommerce sedan april 2024. Alla genomförda. Snittorder: ~130 000 kr.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743200" cy="178308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D000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47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Orders totalt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76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apr 2024 → idag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2424" y="2606040"/>
            <a:ext cx="2743200" cy="178308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2834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2508E"/>
                </a:solidFill>
                <a:latin typeface="Calibri"/>
              </a:rPr>
              <a:t>~130k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3447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Snittorder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3776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kr per beställning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606040"/>
            <a:ext cx="2743200" cy="178308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834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5BA3E0"/>
                </a:solidFill>
                <a:latin typeface="Calibri"/>
              </a:rPr>
              <a:t>146 250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447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Google-order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776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direkt från organisk sökning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62872" y="2606040"/>
            <a:ext cx="2743200" cy="1783080"/>
          </a:xfrm>
          <a:prstGeom prst="rect">
            <a:avLst/>
          </a:prstGeom>
          <a:solidFill>
            <a:srgbClr val="0D1A2E"/>
          </a:solidFill>
          <a:ln w="9525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834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D000"/>
                </a:solidFill>
                <a:latin typeface="Calibri"/>
              </a:rPr>
              <a:t>~2 Mkr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447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Estimerat
ordervärde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3776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88AA"/>
                </a:solidFill>
                <a:latin typeface="Calibri"/>
              </a:rPr>
              <a:t>totalt via sajten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11277295" cy="1005840"/>
          </a:xfrm>
          <a:prstGeom prst="rect">
            <a:avLst/>
          </a:prstGeom>
          <a:solidFill>
            <a:srgbClr val="03180C"/>
          </a:solidFill>
          <a:ln w="12700">
            <a:solidFill>
              <a:srgbClr val="F0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817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D000"/>
                </a:solidFill>
                <a:latin typeface="Calibri"/>
              </a:rPr>
              <a:t>En enda Google-order genererade 146 250 kr.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8E8"/>
                </a:solidFill>
                <a:latin typeface="Calibri"/>
              </a:rPr>
              <a:t>Det är SEO-avtalet betalt i flera år — på en order. Med fler sökord i topp 10 och en sajt optimerad för konvertering kan vi ta fler sådana orders varje månad.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88AA"/>
                </a:solidFill>
                <a:latin typeface="Calibri"/>
              </a:rPr>
              <a:t>Bevisat ROI · Organisk Google · 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19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88AA"/>
                </a:solidFill>
                <a:latin typeface="Calibri"/>
              </a:rPr>
              <a:t>Mikael Larsson — searchboost.se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0"/>
            <a:ext cx="59436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38100" cy="6858000"/>
          </a:xfrm>
          <a:prstGeom prst="rect">
            <a:avLst/>
          </a:prstGeom>
          <a:solidFill>
            <a:srgbClr val="32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bl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011680" cy="6510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BA3E0"/>
                </a:solidFill>
                <a:latin typeface="Calibri"/>
              </a:rPr>
              <a:t>SEARCHBOOST × TOBLER STÄLLNINGSPRODUKTER 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Calibri"/>
              </a:rPr>
              <a:t>Titta vad</a:t>
            </a:r>
          </a:p>
          <a:p>
            <a:pPr algn="l"/>
            <a:r>
              <a:rPr sz="3800" b="1">
                <a:solidFill>
                  <a:srgbClr val="F0D000"/>
                </a:solidFill>
                <a:latin typeface="Calibri"/>
              </a:rPr>
              <a:t>som väntar.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A88AA"/>
                </a:solidFill>
                <a:latin typeface="Calibri"/>
              </a:rPr>
              <a:t>Från ~12 sökord till 43+. Mars-rekord satt.
18 artiklar publicerade. 284 bilder optimerade.
196 produkter. En Google-order = 146 250 kr.
Nu bygger vi nästa kapitel.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897880"/>
            <a:ext cx="5303520" cy="127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016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Mikael Larsson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91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8AA"/>
                </a:solidFill>
                <a:latin typeface="Calibri"/>
              </a:rPr>
              <a:t>mikael@searchboost.se  ·  searchboost.se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