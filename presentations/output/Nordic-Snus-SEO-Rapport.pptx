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5486400" cy="548640"/>
          </a:xfrm>
          <a:prstGeom prst="rect">
            <a:avLst/>
          </a:prstGeom>
          <a:noFill/>
        </p:spPr>
        <p:txBody>
          <a:bodyPr wrap="square">
            <a:spAutoFit/>
          </a:bodyPr>
          <a:lstStyle/>
          <a:p>
            <a:pPr algn="l">
              <a:defRPr sz="2000" b="1">
                <a:solidFill>
                  <a:srgbClr val="E91E8C"/>
                </a:solidFill>
                <a:latin typeface="Calibri"/>
              </a:defRPr>
            </a:pPr>
            <a:r>
              <a:t>🚀 SEARCHBOOST</a:t>
            </a:r>
          </a:p>
        </p:txBody>
      </p:sp>
      <p:sp>
        <p:nvSpPr>
          <p:cNvPr id="4" name="TextBox 3"/>
          <p:cNvSpPr txBox="1"/>
          <p:nvPr/>
        </p:nvSpPr>
        <p:spPr>
          <a:xfrm>
            <a:off x="914400" y="2286000"/>
            <a:ext cx="10058400" cy="1097280"/>
          </a:xfrm>
          <a:prstGeom prst="rect">
            <a:avLst/>
          </a:prstGeom>
          <a:noFill/>
        </p:spPr>
        <p:txBody>
          <a:bodyPr wrap="square">
            <a:spAutoFit/>
          </a:bodyPr>
          <a:lstStyle/>
          <a:p>
            <a:pPr algn="l">
              <a:defRPr sz="4800" b="1">
                <a:solidFill>
                  <a:srgbClr val="FFFFFF"/>
                </a:solidFill>
                <a:latin typeface="Calibri"/>
              </a:defRPr>
            </a:pPr>
            <a:r>
              <a:t>SEO &amp; Prestandarapport</a:t>
            </a:r>
          </a:p>
        </p:txBody>
      </p:sp>
      <p:sp>
        <p:nvSpPr>
          <p:cNvPr id="5" name="TextBox 4"/>
          <p:cNvSpPr txBox="1"/>
          <p:nvPr/>
        </p:nvSpPr>
        <p:spPr>
          <a:xfrm>
            <a:off x="914400" y="3474720"/>
            <a:ext cx="10058400" cy="731520"/>
          </a:xfrm>
          <a:prstGeom prst="rect">
            <a:avLst/>
          </a:prstGeom>
          <a:noFill/>
        </p:spPr>
        <p:txBody>
          <a:bodyPr wrap="square">
            <a:spAutoFit/>
          </a:bodyPr>
          <a:lstStyle/>
          <a:p>
            <a:pPr algn="l">
              <a:defRPr sz="3600" b="0">
                <a:solidFill>
                  <a:srgbClr val="00D4FF"/>
                </a:solidFill>
                <a:latin typeface="Calibri"/>
              </a:defRPr>
            </a:pPr>
            <a:r>
              <a:t>nordicsnus.se</a:t>
            </a:r>
          </a:p>
        </p:txBody>
      </p:sp>
      <p:sp>
        <p:nvSpPr>
          <p:cNvPr id="6" name="Rectangle 5"/>
          <p:cNvSpPr/>
          <p:nvPr/>
        </p:nvSpPr>
        <p:spPr>
          <a:xfrm>
            <a:off x="914400" y="4572000"/>
            <a:ext cx="2743200" cy="54864"/>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846320"/>
            <a:ext cx="5486400" cy="457200"/>
          </a:xfrm>
          <a:prstGeom prst="rect">
            <a:avLst/>
          </a:prstGeom>
          <a:noFill/>
        </p:spPr>
        <p:txBody>
          <a:bodyPr wrap="square">
            <a:spAutoFit/>
          </a:bodyPr>
          <a:lstStyle/>
          <a:p>
            <a:pPr algn="l">
              <a:defRPr sz="1600" b="0">
                <a:solidFill>
                  <a:srgbClr val="94A3B8"/>
                </a:solidFill>
                <a:latin typeface="Calibri"/>
              </a:defRPr>
            </a:pPr>
            <a:r>
              <a:t>Mikael Larsson — Medierådgivare</a:t>
            </a:r>
          </a:p>
        </p:txBody>
      </p:sp>
      <p:sp>
        <p:nvSpPr>
          <p:cNvPr id="8" name="TextBox 7"/>
          <p:cNvSpPr txBox="1"/>
          <p:nvPr/>
        </p:nvSpPr>
        <p:spPr>
          <a:xfrm>
            <a:off x="914400" y="5212080"/>
            <a:ext cx="5486400" cy="457200"/>
          </a:xfrm>
          <a:prstGeom prst="rect">
            <a:avLst/>
          </a:prstGeom>
          <a:noFill/>
        </p:spPr>
        <p:txBody>
          <a:bodyPr wrap="square">
            <a:spAutoFit/>
          </a:bodyPr>
          <a:lstStyle/>
          <a:p>
            <a:pPr algn="l">
              <a:defRPr sz="1400" b="0">
                <a:solidFill>
                  <a:srgbClr val="94A3B8"/>
                </a:solidFill>
                <a:latin typeface="Calibri"/>
              </a:defRPr>
            </a:pPr>
            <a:r>
              <a:t>mikael@searchboost.se | 0760-19 49 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457200"/>
          </a:xfrm>
          <a:prstGeom prst="rect">
            <a:avLst/>
          </a:prstGeom>
          <a:noFill/>
        </p:spPr>
        <p:txBody>
          <a:bodyPr wrap="square">
            <a:spAutoFit/>
          </a:bodyPr>
          <a:lstStyle/>
          <a:p>
            <a:pPr algn="l">
              <a:defRPr sz="1400" b="1">
                <a:solidFill>
                  <a:srgbClr val="E91E8C"/>
                </a:solidFill>
                <a:latin typeface="Calibri"/>
              </a:defRPr>
            </a:pPr>
            <a:r>
              <a:t>Nulägesanalys</a:t>
            </a:r>
          </a:p>
        </p:txBody>
      </p:sp>
      <p:sp>
        <p:nvSpPr>
          <p:cNvPr id="4" name="Oval 3"/>
          <p:cNvSpPr/>
          <p:nvPr/>
        </p:nvSpPr>
        <p:spPr>
          <a:xfrm>
            <a:off x="1371600" y="1371600"/>
            <a:ext cx="2286000" cy="2286000"/>
          </a:xfrm>
          <a:prstGeom prst="ellipse">
            <a:avLst/>
          </a:prstGeom>
          <a:solidFill>
            <a:srgbClr val="1E293B"/>
          </a:solidFill>
          <a:ln w="762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920240"/>
            <a:ext cx="2286000" cy="914400"/>
          </a:xfrm>
          <a:prstGeom prst="rect">
            <a:avLst/>
          </a:prstGeom>
          <a:noFill/>
        </p:spPr>
        <p:txBody>
          <a:bodyPr wrap="square">
            <a:spAutoFit/>
          </a:bodyPr>
          <a:lstStyle/>
          <a:p>
            <a:pPr algn="ctr">
              <a:defRPr sz="6000" b="1">
                <a:solidFill>
                  <a:srgbClr val="F59E0B"/>
                </a:solidFill>
                <a:latin typeface="Calibri"/>
              </a:defRPr>
            </a:pPr>
            <a:r>
              <a:t>58</a:t>
            </a:r>
          </a:p>
        </p:txBody>
      </p:sp>
      <p:sp>
        <p:nvSpPr>
          <p:cNvPr id="6" name="TextBox 5"/>
          <p:cNvSpPr txBox="1"/>
          <p:nvPr/>
        </p:nvSpPr>
        <p:spPr>
          <a:xfrm>
            <a:off x="1371600" y="2834640"/>
            <a:ext cx="2286000" cy="365760"/>
          </a:xfrm>
          <a:prstGeom prst="rect">
            <a:avLst/>
          </a:prstGeom>
          <a:noFill/>
        </p:spPr>
        <p:txBody>
          <a:bodyPr wrap="square">
            <a:spAutoFit/>
          </a:bodyPr>
          <a:lstStyle/>
          <a:p>
            <a:pPr algn="ctr">
              <a:defRPr sz="2000" b="0">
                <a:solidFill>
                  <a:srgbClr val="94A3B8"/>
                </a:solidFill>
                <a:latin typeface="Calibri"/>
              </a:defRPr>
            </a:pPr>
            <a:r>
              <a:t>/100</a:t>
            </a:r>
          </a:p>
        </p:txBody>
      </p:sp>
      <p:sp>
        <p:nvSpPr>
          <p:cNvPr id="7" name="TextBox 6"/>
          <p:cNvSpPr txBox="1"/>
          <p:nvPr/>
        </p:nvSpPr>
        <p:spPr>
          <a:xfrm>
            <a:off x="1371600" y="3840480"/>
            <a:ext cx="2286000" cy="365760"/>
          </a:xfrm>
          <a:prstGeom prst="rect">
            <a:avLst/>
          </a:prstGeom>
          <a:noFill/>
        </p:spPr>
        <p:txBody>
          <a:bodyPr wrap="square">
            <a:spAutoFit/>
          </a:bodyPr>
          <a:lstStyle/>
          <a:p>
            <a:pPr algn="ctr">
              <a:defRPr sz="1600" b="1">
                <a:solidFill>
                  <a:srgbClr val="FFFFFF"/>
                </a:solidFill>
                <a:latin typeface="Calibri"/>
              </a:defRPr>
            </a:pPr>
            <a:r>
              <a:t>SEO-poäng</a:t>
            </a:r>
          </a:p>
        </p:txBody>
      </p:sp>
      <p:sp>
        <p:nvSpPr>
          <p:cNvPr id="8" name="Rounded Rectangle 7"/>
          <p:cNvSpPr/>
          <p:nvPr/>
        </p:nvSpPr>
        <p:spPr>
          <a:xfrm>
            <a:off x="4572000" y="1371600"/>
            <a:ext cx="2194560" cy="13716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554480"/>
            <a:ext cx="2194560" cy="731520"/>
          </a:xfrm>
          <a:prstGeom prst="rect">
            <a:avLst/>
          </a:prstGeom>
          <a:noFill/>
        </p:spPr>
        <p:txBody>
          <a:bodyPr wrap="square">
            <a:spAutoFit/>
          </a:bodyPr>
          <a:lstStyle/>
          <a:p>
            <a:pPr algn="ctr">
              <a:defRPr sz="4200" b="1">
                <a:solidFill>
                  <a:srgbClr val="EF4444"/>
                </a:solidFill>
                <a:latin typeface="Calibri"/>
              </a:defRPr>
            </a:pPr>
            <a:r>
              <a:t>3</a:t>
            </a:r>
          </a:p>
        </p:txBody>
      </p:sp>
      <p:sp>
        <p:nvSpPr>
          <p:cNvPr id="10" name="TextBox 9"/>
          <p:cNvSpPr txBox="1"/>
          <p:nvPr/>
        </p:nvSpPr>
        <p:spPr>
          <a:xfrm>
            <a:off x="4572000" y="2194560"/>
            <a:ext cx="2194560" cy="365760"/>
          </a:xfrm>
          <a:prstGeom prst="rect">
            <a:avLst/>
          </a:prstGeom>
          <a:noFill/>
        </p:spPr>
        <p:txBody>
          <a:bodyPr wrap="square">
            <a:spAutoFit/>
          </a:bodyPr>
          <a:lstStyle/>
          <a:p>
            <a:pPr algn="ctr">
              <a:defRPr sz="1400" b="0">
                <a:solidFill>
                  <a:srgbClr val="94A3B8"/>
                </a:solidFill>
                <a:latin typeface="Calibri"/>
              </a:defRPr>
            </a:pPr>
            <a:r>
              <a:t>Kritiska fel</a:t>
            </a:r>
          </a:p>
        </p:txBody>
      </p:sp>
      <p:sp>
        <p:nvSpPr>
          <p:cNvPr id="11" name="Rounded Rectangle 10"/>
          <p:cNvSpPr/>
          <p:nvPr/>
        </p:nvSpPr>
        <p:spPr>
          <a:xfrm>
            <a:off x="7132320" y="1371600"/>
            <a:ext cx="2194560" cy="13716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0" y="1554480"/>
            <a:ext cx="2194560" cy="731520"/>
          </a:xfrm>
          <a:prstGeom prst="rect">
            <a:avLst/>
          </a:prstGeom>
          <a:noFill/>
        </p:spPr>
        <p:txBody>
          <a:bodyPr wrap="square">
            <a:spAutoFit/>
          </a:bodyPr>
          <a:lstStyle/>
          <a:p>
            <a:pPr algn="ctr">
              <a:defRPr sz="4200" b="1">
                <a:solidFill>
                  <a:srgbClr val="F59E0B"/>
                </a:solidFill>
                <a:latin typeface="Calibri"/>
              </a:defRPr>
            </a:pPr>
            <a:r>
              <a:t>5</a:t>
            </a:r>
          </a:p>
        </p:txBody>
      </p:sp>
      <p:sp>
        <p:nvSpPr>
          <p:cNvPr id="13" name="TextBox 12"/>
          <p:cNvSpPr txBox="1"/>
          <p:nvPr/>
        </p:nvSpPr>
        <p:spPr>
          <a:xfrm>
            <a:off x="7132320" y="2194560"/>
            <a:ext cx="2194560" cy="365760"/>
          </a:xfrm>
          <a:prstGeom prst="rect">
            <a:avLst/>
          </a:prstGeom>
          <a:noFill/>
        </p:spPr>
        <p:txBody>
          <a:bodyPr wrap="square">
            <a:spAutoFit/>
          </a:bodyPr>
          <a:lstStyle/>
          <a:p>
            <a:pPr algn="ctr">
              <a:defRPr sz="1400" b="0">
                <a:solidFill>
                  <a:srgbClr val="94A3B8"/>
                </a:solidFill>
                <a:latin typeface="Calibri"/>
              </a:defRPr>
            </a:pPr>
            <a:r>
              <a:t>Varningar</a:t>
            </a:r>
          </a:p>
        </p:txBody>
      </p:sp>
      <p:sp>
        <p:nvSpPr>
          <p:cNvPr id="14" name="Rounded Rectangle 13"/>
          <p:cNvSpPr/>
          <p:nvPr/>
        </p:nvSpPr>
        <p:spPr>
          <a:xfrm>
            <a:off x="9692640" y="1371600"/>
            <a:ext cx="2194560" cy="13716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0" y="1554480"/>
            <a:ext cx="2194560" cy="731520"/>
          </a:xfrm>
          <a:prstGeom prst="rect">
            <a:avLst/>
          </a:prstGeom>
          <a:noFill/>
        </p:spPr>
        <p:txBody>
          <a:bodyPr wrap="square">
            <a:spAutoFit/>
          </a:bodyPr>
          <a:lstStyle/>
          <a:p>
            <a:pPr algn="ctr">
              <a:defRPr sz="4200" b="1">
                <a:solidFill>
                  <a:srgbClr val="00D4FF"/>
                </a:solidFill>
                <a:latin typeface="Calibri"/>
              </a:defRPr>
            </a:pPr>
            <a:r>
              <a:t>10</a:t>
            </a:r>
          </a:p>
        </p:txBody>
      </p:sp>
      <p:sp>
        <p:nvSpPr>
          <p:cNvPr id="16" name="TextBox 15"/>
          <p:cNvSpPr txBox="1"/>
          <p:nvPr/>
        </p:nvSpPr>
        <p:spPr>
          <a:xfrm>
            <a:off x="9692640" y="2194560"/>
            <a:ext cx="2194560" cy="365760"/>
          </a:xfrm>
          <a:prstGeom prst="rect">
            <a:avLst/>
          </a:prstGeom>
          <a:noFill/>
        </p:spPr>
        <p:txBody>
          <a:bodyPr wrap="square">
            <a:spAutoFit/>
          </a:bodyPr>
          <a:lstStyle/>
          <a:p>
            <a:pPr algn="ctr">
              <a:defRPr sz="1400" b="0">
                <a:solidFill>
                  <a:srgbClr val="94A3B8"/>
                </a:solidFill>
                <a:latin typeface="Calibri"/>
              </a:defRPr>
            </a:pPr>
            <a:r>
              <a:t>Totalt</a:t>
            </a:r>
          </a:p>
        </p:txBody>
      </p:sp>
      <p:sp>
        <p:nvSpPr>
          <p:cNvPr id="17" name="Rounded Rectangle 16"/>
          <p:cNvSpPr/>
          <p:nvPr/>
        </p:nvSpPr>
        <p:spPr>
          <a:xfrm>
            <a:off x="4572000" y="3200400"/>
            <a:ext cx="6858000" cy="27432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46320" y="3383280"/>
            <a:ext cx="6400800" cy="2377440"/>
          </a:xfrm>
          <a:prstGeom prst="rect">
            <a:avLst/>
          </a:prstGeom>
          <a:noFill/>
        </p:spPr>
        <p:txBody>
          <a:bodyPr wrap="square">
            <a:spAutoFit/>
          </a:bodyPr>
          <a:lstStyle/>
          <a:p>
            <a:pPr algn="l">
              <a:defRPr sz="1500" b="0">
                <a:solidFill>
                  <a:srgbClr val="FFFFFF"/>
                </a:solidFill>
                <a:latin typeface="Calibri"/>
              </a:defRPr>
            </a:pPr>
            <a:r>
              <a:t>Hej! Jag har analyserat er sajt och ni har en bra grund med tydlig beskrivning av ert företag från Vårgårda, men er SEO-score på 58 av 100 visar att ni missar mycket potentiell trafik. De tre kritiska problemen som kostar er mest är att ni saknar sitemap som hjälper Google hitta era sidor, ni saknar strukturerad data som gör att ni inte syns lika bra i sökresultaten, och ni saknar canonical-taggar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457200"/>
          </a:xfrm>
          <a:prstGeom prst="rect">
            <a:avLst/>
          </a:prstGeom>
          <a:noFill/>
        </p:spPr>
        <p:txBody>
          <a:bodyPr wrap="square">
            <a:spAutoFit/>
          </a:bodyPr>
          <a:lstStyle/>
          <a:p>
            <a:pPr algn="l">
              <a:defRPr sz="1400" b="1">
                <a:solidFill>
                  <a:srgbClr val="E91E8C"/>
                </a:solidFill>
                <a:latin typeface="Calibri"/>
              </a:defRPr>
            </a:pPr>
            <a:r>
              <a:t>Identifierade problem</a:t>
            </a:r>
          </a:p>
        </p:txBody>
      </p:sp>
      <p:sp>
        <p:nvSpPr>
          <p:cNvPr id="4" name="TextBox 3"/>
          <p:cNvSpPr txBox="1"/>
          <p:nvPr/>
        </p:nvSpPr>
        <p:spPr>
          <a:xfrm>
            <a:off x="731520" y="822960"/>
            <a:ext cx="10058400" cy="548640"/>
          </a:xfrm>
          <a:prstGeom prst="rect">
            <a:avLst/>
          </a:prstGeom>
          <a:noFill/>
        </p:spPr>
        <p:txBody>
          <a:bodyPr wrap="square">
            <a:spAutoFit/>
          </a:bodyPr>
          <a:lstStyle/>
          <a:p>
            <a:pPr algn="l">
              <a:defRPr sz="3200" b="1">
                <a:solidFill>
                  <a:srgbClr val="FFFFFF"/>
                </a:solidFill>
                <a:latin typeface="Calibri"/>
              </a:defRPr>
            </a:pPr>
            <a:r>
              <a:t>Vad hindrar er synlighet i Google?</a:t>
            </a:r>
          </a:p>
        </p:txBody>
      </p:sp>
      <p:sp>
        <p:nvSpPr>
          <p:cNvPr id="5" name="TextBox 4"/>
          <p:cNvSpPr txBox="1"/>
          <p:nvPr/>
        </p:nvSpPr>
        <p:spPr>
          <a:xfrm>
            <a:off x="731520" y="1645920"/>
            <a:ext cx="5029200" cy="365760"/>
          </a:xfrm>
          <a:prstGeom prst="rect">
            <a:avLst/>
          </a:prstGeom>
          <a:noFill/>
        </p:spPr>
        <p:txBody>
          <a:bodyPr wrap="square">
            <a:spAutoFit/>
          </a:bodyPr>
          <a:lstStyle/>
          <a:p>
            <a:pPr algn="l">
              <a:defRPr sz="1600" b="1">
                <a:solidFill>
                  <a:srgbClr val="EF4444"/>
                </a:solidFill>
                <a:latin typeface="Calibri"/>
              </a:defRPr>
            </a:pPr>
            <a:r>
              <a:t>🔴 Kritiska (måste åtgärdas)</a:t>
            </a:r>
          </a:p>
        </p:txBody>
      </p:sp>
      <p:sp>
        <p:nvSpPr>
          <p:cNvPr id="6" name="TextBox 5"/>
          <p:cNvSpPr txBox="1"/>
          <p:nvPr/>
        </p:nvSpPr>
        <p:spPr>
          <a:xfrm>
            <a:off x="731520" y="2103120"/>
            <a:ext cx="5029200" cy="2286000"/>
          </a:xfrm>
          <a:prstGeom prst="rect">
            <a:avLst/>
          </a:prstGeom>
          <a:noFill/>
        </p:spPr>
        <p:txBody>
          <a:bodyPr wrap="square">
            <a:spAutoFit/>
          </a:bodyPr>
          <a:lstStyle/>
          <a:p>
            <a:pPr>
              <a:spcAft>
                <a:spcPts val="800"/>
              </a:spcAft>
              <a:defRPr sz="1400">
                <a:solidFill>
                  <a:srgbClr val="FFFFFF"/>
                </a:solidFill>
                <a:latin typeface="Calibri"/>
              </a:defRPr>
            </a:pPr>
            <a:r>
              <a:t>• Ingen canonical-tagg — risk för duplicerat innehåll</a:t>
            </a:r>
          </a:p>
          <a:p>
            <a:pPr>
              <a:spcAft>
                <a:spcPts val="800"/>
              </a:spcAft>
              <a:defRPr sz="1400">
                <a:solidFill>
                  <a:srgbClr val="FFFFFF"/>
                </a:solidFill>
                <a:latin typeface="Calibri"/>
              </a:defRPr>
            </a:pPr>
            <a:r>
              <a:t>• Ingen Schema markup — inga rich snippets i Google</a:t>
            </a:r>
          </a:p>
          <a:p>
            <a:pPr>
              <a:spcAft>
                <a:spcPts val="800"/>
              </a:spcAft>
              <a:defRPr sz="1400">
                <a:solidFill>
                  <a:srgbClr val="FFFFFF"/>
                </a:solidFill>
                <a:latin typeface="Calibri"/>
              </a:defRPr>
            </a:pPr>
            <a:r>
              <a:t>• Ingen sitemap — Google kan inte hitta alla sidor</a:t>
            </a:r>
          </a:p>
        </p:txBody>
      </p:sp>
      <p:sp>
        <p:nvSpPr>
          <p:cNvPr id="7" name="TextBox 6"/>
          <p:cNvSpPr txBox="1"/>
          <p:nvPr/>
        </p:nvSpPr>
        <p:spPr>
          <a:xfrm>
            <a:off x="6400800" y="1645920"/>
            <a:ext cx="5029200" cy="365760"/>
          </a:xfrm>
          <a:prstGeom prst="rect">
            <a:avLst/>
          </a:prstGeom>
          <a:noFill/>
        </p:spPr>
        <p:txBody>
          <a:bodyPr wrap="square">
            <a:spAutoFit/>
          </a:bodyPr>
          <a:lstStyle/>
          <a:p>
            <a:pPr algn="l">
              <a:defRPr sz="1600" b="1">
                <a:solidFill>
                  <a:srgbClr val="F59E0B"/>
                </a:solidFill>
                <a:latin typeface="Calibri"/>
              </a:defRPr>
            </a:pPr>
            <a:r>
              <a:t>🟡 Varningar (bör åtgärdas)</a:t>
            </a:r>
          </a:p>
        </p:txBody>
      </p:sp>
      <p:sp>
        <p:nvSpPr>
          <p:cNvPr id="8" name="TextBox 7"/>
          <p:cNvSpPr txBox="1"/>
          <p:nvPr/>
        </p:nvSpPr>
        <p:spPr>
          <a:xfrm>
            <a:off x="6400800" y="2103120"/>
            <a:ext cx="5029200" cy="2286000"/>
          </a:xfrm>
          <a:prstGeom prst="rect">
            <a:avLst/>
          </a:prstGeom>
          <a:noFill/>
        </p:spPr>
        <p:txBody>
          <a:bodyPr wrap="square">
            <a:spAutoFit/>
          </a:bodyPr>
          <a:lstStyle/>
          <a:p>
            <a:pPr>
              <a:spcAft>
                <a:spcPts val="800"/>
              </a:spcAft>
              <a:defRPr sz="1400">
                <a:solidFill>
                  <a:srgbClr val="FFFFFF"/>
                </a:solidFill>
                <a:latin typeface="Calibri"/>
              </a:defRPr>
            </a:pPr>
            <a:r>
              <a:t>• Title-taggen saknar kommersiella sökord (köp, beställ)</a:t>
            </a:r>
          </a:p>
          <a:p>
            <a:pPr>
              <a:spcAft>
                <a:spcPts val="800"/>
              </a:spcAft>
              <a:defRPr sz="1400">
                <a:solidFill>
                  <a:srgbClr val="FFFFFF"/>
                </a:solidFill>
                <a:latin typeface="Calibri"/>
              </a:defRPr>
            </a:pPr>
            <a:r>
              <a:t>• H1-taggen är för vag — "Vår snustradition"</a:t>
            </a:r>
          </a:p>
          <a:p>
            <a:pPr>
              <a:spcAft>
                <a:spcPts val="800"/>
              </a:spcAft>
              <a:defRPr sz="1400">
                <a:solidFill>
                  <a:srgbClr val="FFFFFF"/>
                </a:solidFill>
                <a:latin typeface="Calibri"/>
              </a:defRPr>
            </a:pPr>
            <a:r>
              <a:t>• Ingen robots meta-tagg specificerad</a:t>
            </a:r>
          </a:p>
          <a:p>
            <a:pPr>
              <a:spcAft>
                <a:spcPts val="800"/>
              </a:spcAft>
              <a:defRPr sz="1400">
                <a:solidFill>
                  <a:srgbClr val="FFFFFF"/>
                </a:solidFill>
                <a:latin typeface="Calibri"/>
              </a:defRPr>
            </a:pPr>
            <a:r>
              <a:t>• Intern länkstruktur behöver förbättras</a:t>
            </a:r>
          </a:p>
          <a:p>
            <a:pPr>
              <a:spcAft>
                <a:spcPts val="800"/>
              </a:spcAft>
              <a:defRPr sz="1400">
                <a:solidFill>
                  <a:srgbClr val="FFFFFF"/>
                </a:solidFill>
                <a:latin typeface="Calibri"/>
              </a:defRPr>
            </a:pPr>
            <a:r>
              <a:t>• Lokal SEO i Vårgårda kan förstärkas</a:t>
            </a:r>
          </a:p>
        </p:txBody>
      </p:sp>
      <p:sp>
        <p:nvSpPr>
          <p:cNvPr id="9" name="TextBox 8"/>
          <p:cNvSpPr txBox="1"/>
          <p:nvPr/>
        </p:nvSpPr>
        <p:spPr>
          <a:xfrm>
            <a:off x="731520" y="4572000"/>
            <a:ext cx="10058400" cy="365760"/>
          </a:xfrm>
          <a:prstGeom prst="rect">
            <a:avLst/>
          </a:prstGeom>
          <a:noFill/>
        </p:spPr>
        <p:txBody>
          <a:bodyPr wrap="square">
            <a:spAutoFit/>
          </a:bodyPr>
          <a:lstStyle/>
          <a:p>
            <a:pPr algn="l">
              <a:defRPr sz="1600" b="1">
                <a:solidFill>
                  <a:srgbClr val="00D4FF"/>
                </a:solidFill>
                <a:latin typeface="Calibri"/>
              </a:defRPr>
            </a:pPr>
            <a:r>
              <a:t>ℹ️ Förbättringsförslag</a:t>
            </a:r>
          </a:p>
        </p:txBody>
      </p:sp>
      <p:sp>
        <p:nvSpPr>
          <p:cNvPr id="10" name="TextBox 9"/>
          <p:cNvSpPr txBox="1"/>
          <p:nvPr/>
        </p:nvSpPr>
        <p:spPr>
          <a:xfrm>
            <a:off x="731520" y="4937760"/>
            <a:ext cx="10058400" cy="1371600"/>
          </a:xfrm>
          <a:prstGeom prst="rect">
            <a:avLst/>
          </a:prstGeom>
          <a:noFill/>
        </p:spPr>
        <p:txBody>
          <a:bodyPr wrap="square">
            <a:spAutoFit/>
          </a:bodyPr>
          <a:lstStyle/>
          <a:p>
            <a:pPr>
              <a:spcAft>
                <a:spcPts val="800"/>
              </a:spcAft>
              <a:defRPr sz="1300">
                <a:solidFill>
                  <a:srgbClr val="94A3B8"/>
                </a:solidFill>
                <a:latin typeface="Calibri"/>
              </a:defRPr>
            </a:pPr>
            <a:r>
              <a:t>• Meta-beskrivningen kan vara mer säljande</a:t>
            </a:r>
          </a:p>
          <a:p>
            <a:pPr>
              <a:spcAft>
                <a:spcPts val="800"/>
              </a:spcAft>
              <a:defRPr sz="1300">
                <a:solidFill>
                  <a:srgbClr val="94A3B8"/>
                </a:solidFill>
                <a:latin typeface="Calibri"/>
              </a:defRPr>
            </a:pPr>
            <a:r>
              <a:t>• HTML 143 KB — kan optimeras för snabbare laddning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457200"/>
          </a:xfrm>
          <a:prstGeom prst="rect">
            <a:avLst/>
          </a:prstGeom>
          <a:noFill/>
        </p:spPr>
        <p:txBody>
          <a:bodyPr wrap="square">
            <a:spAutoFit/>
          </a:bodyPr>
          <a:lstStyle/>
          <a:p>
            <a:pPr algn="l">
              <a:defRPr sz="1400" b="1">
                <a:solidFill>
                  <a:srgbClr val="E91E8C"/>
                </a:solidFill>
                <a:latin typeface="Calibri"/>
              </a:defRPr>
            </a:pPr>
            <a:r>
              <a:t>Åtgärdsplan</a:t>
            </a:r>
          </a:p>
        </p:txBody>
      </p:sp>
      <p:sp>
        <p:nvSpPr>
          <p:cNvPr id="4" name="TextBox 3"/>
          <p:cNvSpPr txBox="1"/>
          <p:nvPr/>
        </p:nvSpPr>
        <p:spPr>
          <a:xfrm>
            <a:off x="731520" y="822960"/>
            <a:ext cx="10058400" cy="548640"/>
          </a:xfrm>
          <a:prstGeom prst="rect">
            <a:avLst/>
          </a:prstGeom>
          <a:noFill/>
        </p:spPr>
        <p:txBody>
          <a:bodyPr wrap="square">
            <a:spAutoFit/>
          </a:bodyPr>
          <a:lstStyle/>
          <a:p>
            <a:pPr algn="l">
              <a:defRPr sz="3200" b="1">
                <a:solidFill>
                  <a:srgbClr val="FFFFFF"/>
                </a:solidFill>
                <a:latin typeface="Calibri"/>
              </a:defRPr>
            </a:pPr>
            <a:r>
              <a:t>Så fixar vi det</a:t>
            </a:r>
          </a:p>
        </p:txBody>
      </p:sp>
      <p:sp>
        <p:nvSpPr>
          <p:cNvPr id="5" name="Rounded Rectangle 4"/>
          <p:cNvSpPr/>
          <p:nvPr/>
        </p:nvSpPr>
        <p:spPr>
          <a:xfrm>
            <a:off x="731520" y="1645920"/>
            <a:ext cx="5029200" cy="41148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572000" cy="365760"/>
          </a:xfrm>
          <a:prstGeom prst="rect">
            <a:avLst/>
          </a:prstGeom>
          <a:noFill/>
        </p:spPr>
        <p:txBody>
          <a:bodyPr wrap="square">
            <a:spAutoFit/>
          </a:bodyPr>
          <a:lstStyle/>
          <a:p>
            <a:pPr algn="l">
              <a:defRPr sz="1800" b="1">
                <a:solidFill>
                  <a:srgbClr val="EF4444"/>
                </a:solidFill>
                <a:latin typeface="Calibri"/>
              </a:defRPr>
            </a:pPr>
            <a:r>
              <a:t>Hög prioritet</a:t>
            </a:r>
          </a:p>
        </p:txBody>
      </p:sp>
      <p:sp>
        <p:nvSpPr>
          <p:cNvPr id="7" name="TextBox 6"/>
          <p:cNvSpPr txBox="1"/>
          <p:nvPr/>
        </p:nvSpPr>
        <p:spPr>
          <a:xfrm>
            <a:off x="1005840" y="2286000"/>
            <a:ext cx="4572000" cy="3200400"/>
          </a:xfrm>
          <a:prstGeom prst="rect">
            <a:avLst/>
          </a:prstGeom>
          <a:noFill/>
        </p:spPr>
        <p:txBody>
          <a:bodyPr wrap="square">
            <a:spAutoFit/>
          </a:bodyPr>
          <a:lstStyle/>
          <a:p>
            <a:pPr>
              <a:spcAft>
                <a:spcPts val="800"/>
              </a:spcAft>
              <a:defRPr sz="1300">
                <a:solidFill>
                  <a:srgbClr val="FFFFFF"/>
                </a:solidFill>
                <a:latin typeface="Calibri"/>
              </a:defRPr>
            </a:pPr>
            <a:r>
              <a:t>• Lägg till canonical-tagg på alla sidor för att specificera den föredragna versionen.</a:t>
            </a:r>
          </a:p>
          <a:p>
            <a:pPr>
              <a:spcAft>
                <a:spcPts val="800"/>
              </a:spcAft>
              <a:defRPr sz="1300">
                <a:solidFill>
                  <a:srgbClr val="FFFFFF"/>
                </a:solidFill>
                <a:latin typeface="Calibri"/>
              </a:defRPr>
            </a:pPr>
            <a:r>
              <a:t>• Implementera Organization + LocalBusiness Schema med JSON-LD. Inkludera företagsnamn, logo</a:t>
            </a:r>
          </a:p>
          <a:p>
            <a:pPr>
              <a:spcAft>
                <a:spcPts val="800"/>
              </a:spcAft>
              <a:defRPr sz="1300">
                <a:solidFill>
                  <a:srgbClr val="FFFFFF"/>
                </a:solidFill>
                <a:latin typeface="Calibri"/>
              </a:defRPr>
            </a:pPr>
            <a:r>
              <a:t>• Skapa XML-sitemap och registrera i Google Search Console.</a:t>
            </a:r>
          </a:p>
        </p:txBody>
      </p:sp>
      <p:sp>
        <p:nvSpPr>
          <p:cNvPr id="8" name="Rounded Rectangle 7"/>
          <p:cNvSpPr/>
          <p:nvPr/>
        </p:nvSpPr>
        <p:spPr>
          <a:xfrm>
            <a:off x="6400800" y="1645920"/>
            <a:ext cx="5029200" cy="41148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1828800"/>
            <a:ext cx="4572000" cy="365760"/>
          </a:xfrm>
          <a:prstGeom prst="rect">
            <a:avLst/>
          </a:prstGeom>
          <a:noFill/>
        </p:spPr>
        <p:txBody>
          <a:bodyPr wrap="square">
            <a:spAutoFit/>
          </a:bodyPr>
          <a:lstStyle/>
          <a:p>
            <a:pPr algn="l">
              <a:defRPr sz="1800" b="1">
                <a:solidFill>
                  <a:srgbClr val="F59E0B"/>
                </a:solidFill>
                <a:latin typeface="Calibri"/>
              </a:defRPr>
            </a:pPr>
            <a:r>
              <a:t>Medel &amp; Långsiktigt</a:t>
            </a:r>
          </a:p>
        </p:txBody>
      </p:sp>
      <p:sp>
        <p:nvSpPr>
          <p:cNvPr id="10" name="TextBox 9"/>
          <p:cNvSpPr txBox="1"/>
          <p:nvPr/>
        </p:nvSpPr>
        <p:spPr>
          <a:xfrm>
            <a:off x="6675120" y="2286000"/>
            <a:ext cx="4572000" cy="3200400"/>
          </a:xfrm>
          <a:prstGeom prst="rect">
            <a:avLst/>
          </a:prstGeom>
          <a:noFill/>
        </p:spPr>
        <p:txBody>
          <a:bodyPr wrap="square">
            <a:spAutoFit/>
          </a:bodyPr>
          <a:lstStyle/>
          <a:p>
            <a:pPr>
              <a:spcAft>
                <a:spcPts val="800"/>
              </a:spcAft>
              <a:defRPr sz="1300">
                <a:solidFill>
                  <a:srgbClr val="FFFFFF"/>
                </a:solidFill>
                <a:latin typeface="Calibri"/>
              </a:defRPr>
            </a:pPr>
            <a:r>
              <a:t>• Ändra till: "Köp svenskt snus online - Nordic Snus från Vårgårda" (~60 tecken).</a:t>
            </a:r>
          </a:p>
          <a:p>
            <a:pPr>
              <a:spcAft>
                <a:spcPts val="800"/>
              </a:spcAft>
              <a:defRPr sz="1300">
                <a:solidFill>
                  <a:srgbClr val="FFFFFF"/>
                </a:solidFill>
                <a:latin typeface="Calibri"/>
              </a:defRPr>
            </a:pPr>
            <a:r>
              <a:t>• Ändra till: "Nordic Snus - Svenskt kvalitetssnus från Vårgårda".</a:t>
            </a:r>
          </a:p>
          <a:p>
            <a:pPr>
              <a:spcAft>
                <a:spcPts val="800"/>
              </a:spcAft>
              <a:defRPr sz="1300">
                <a:solidFill>
                  <a:srgbClr val="FFFFFF"/>
                </a:solidFill>
                <a:latin typeface="Calibri"/>
              </a:defRPr>
            </a:pPr>
            <a:r>
              <a:t>• Lägg till robots meta-tagg med index, follow för tydlig indexeringsstyrning.</a:t>
            </a:r>
          </a:p>
          <a:p>
            <a:pPr>
              <a:spcAft>
                <a:spcPts val="800"/>
              </a:spcAft>
              <a:defRPr sz="1300">
                <a:solidFill>
                  <a:srgbClr val="FFFFFF"/>
                </a:solidFill>
                <a:latin typeface="Calibri"/>
              </a:defRPr>
            </a:pPr>
            <a:r>
              <a:t>• Säkerställ tydlig navigationsstruktur med breadcrumbs och relaterade produkter.</a:t>
            </a:r>
          </a:p>
          <a:p>
            <a:pPr>
              <a:spcAft>
                <a:spcPts val="800"/>
              </a:spcAft>
              <a:defRPr sz="1300">
                <a:solidFill>
                  <a:srgbClr val="FFFFFF"/>
                </a:solidFill>
                <a:latin typeface="Calibri"/>
              </a:defRPr>
            </a:pPr>
            <a:r>
              <a:t>• Implementera LocalBusiness Schema, skapa Google Business Profile.</a:t>
            </a:r>
          </a:p>
          <a:p>
            <a:pPr>
              <a:spcAft>
                <a:spcPts val="800"/>
              </a:spcAft>
              <a:defRPr sz="1300">
                <a:solidFill>
                  <a:srgbClr val="FFFFFF"/>
                </a:solidFill>
                <a:latin typeface="Calibri"/>
              </a:defRPr>
            </a:pPr>
            <a:r>
              <a:t>• Lägg till CTA och produktkategorier i meta description. Optimal längd: 155-160 tecken.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457200"/>
          </a:xfrm>
          <a:prstGeom prst="rect">
            <a:avLst/>
          </a:prstGeom>
          <a:noFill/>
        </p:spPr>
        <p:txBody>
          <a:bodyPr wrap="square">
            <a:spAutoFit/>
          </a:bodyPr>
          <a:lstStyle/>
          <a:p>
            <a:pPr algn="l">
              <a:defRPr sz="1400" b="1">
                <a:solidFill>
                  <a:srgbClr val="E91E8C"/>
                </a:solidFill>
                <a:latin typeface="Calibri"/>
              </a:defRPr>
            </a:pPr>
            <a:r>
              <a:t>Investering</a:t>
            </a:r>
          </a:p>
        </p:txBody>
      </p:sp>
      <p:sp>
        <p:nvSpPr>
          <p:cNvPr id="4" name="TextBox 3"/>
          <p:cNvSpPr txBox="1"/>
          <p:nvPr/>
        </p:nvSpPr>
        <p:spPr>
          <a:xfrm>
            <a:off x="731520" y="822960"/>
            <a:ext cx="10058400" cy="548640"/>
          </a:xfrm>
          <a:prstGeom prst="rect">
            <a:avLst/>
          </a:prstGeom>
          <a:noFill/>
        </p:spPr>
        <p:txBody>
          <a:bodyPr wrap="square">
            <a:spAutoFit/>
          </a:bodyPr>
          <a:lstStyle/>
          <a:p>
            <a:pPr algn="l">
              <a:defRPr sz="3200" b="1">
                <a:solidFill>
                  <a:srgbClr val="FFFFFF"/>
                </a:solidFill>
                <a:latin typeface="Calibri"/>
              </a:defRPr>
            </a:pPr>
            <a:r>
              <a:t>Vad ingår?</a:t>
            </a:r>
          </a:p>
        </p:txBody>
      </p:sp>
      <p:sp>
        <p:nvSpPr>
          <p:cNvPr id="5" name="Rounded Rectangle 4"/>
          <p:cNvSpPr/>
          <p:nvPr/>
        </p:nvSpPr>
        <p:spPr>
          <a:xfrm>
            <a:off x="731520" y="1645920"/>
            <a:ext cx="640080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5943600" cy="4114800"/>
          </a:xfrm>
          <a:prstGeom prst="rect">
            <a:avLst/>
          </a:prstGeom>
          <a:noFill/>
        </p:spPr>
        <p:txBody>
          <a:bodyPr wrap="square">
            <a:spAutoFit/>
          </a:bodyPr>
          <a:lstStyle/>
          <a:p>
            <a:pPr>
              <a:spcAft>
                <a:spcPts val="800"/>
              </a:spcAft>
              <a:defRPr sz="1600">
                <a:solidFill>
                  <a:srgbClr val="FFFFFF"/>
                </a:solidFill>
                <a:latin typeface="Calibri"/>
              </a:defRPr>
            </a:pPr>
            <a:r>
              <a:t>• Komplett SEO-analys &amp; teknisk genomgång</a:t>
            </a:r>
          </a:p>
          <a:p>
            <a:pPr>
              <a:spcAft>
                <a:spcPts val="800"/>
              </a:spcAft>
              <a:defRPr sz="1600">
                <a:solidFill>
                  <a:srgbClr val="FFFFFF"/>
                </a:solidFill>
                <a:latin typeface="Calibri"/>
              </a:defRPr>
            </a:pPr>
            <a:r>
              <a:t>• Optimering av alla meta-titlar &amp; beskrivningar</a:t>
            </a:r>
          </a:p>
          <a:p>
            <a:pPr>
              <a:spcAft>
                <a:spcPts val="800"/>
              </a:spcAft>
              <a:defRPr sz="1600">
                <a:solidFill>
                  <a:srgbClr val="FFFFFF"/>
                </a:solidFill>
                <a:latin typeface="Calibri"/>
              </a:defRPr>
            </a:pPr>
            <a:r>
              <a:t>• Schema markup (strukturerad data)</a:t>
            </a:r>
          </a:p>
          <a:p>
            <a:pPr>
              <a:spcAft>
                <a:spcPts val="800"/>
              </a:spcAft>
              <a:defRPr sz="1600">
                <a:solidFill>
                  <a:srgbClr val="FFFFFF"/>
                </a:solidFill>
                <a:latin typeface="Calibri"/>
              </a:defRPr>
            </a:pPr>
            <a:r>
              <a:t>• Sitemap &amp; robots.txt</a:t>
            </a:r>
          </a:p>
          <a:p>
            <a:pPr>
              <a:spcAft>
                <a:spcPts val="800"/>
              </a:spcAft>
              <a:defRPr sz="1600">
                <a:solidFill>
                  <a:srgbClr val="FFFFFF"/>
                </a:solidFill>
                <a:latin typeface="Calibri"/>
              </a:defRPr>
            </a:pPr>
            <a:r>
              <a:t>• Intern länkning &amp; breadcrumbs</a:t>
            </a:r>
          </a:p>
          <a:p>
            <a:pPr>
              <a:spcAft>
                <a:spcPts val="800"/>
              </a:spcAft>
              <a:defRPr sz="1600">
                <a:solidFill>
                  <a:srgbClr val="FFFFFF"/>
                </a:solidFill>
                <a:latin typeface="Calibri"/>
              </a:defRPr>
            </a:pPr>
            <a:r>
              <a:t>• Automatisk veckooptimering av era sidor</a:t>
            </a:r>
          </a:p>
          <a:p>
            <a:pPr>
              <a:spcAft>
                <a:spcPts val="800"/>
              </a:spcAft>
              <a:defRPr sz="1600">
                <a:solidFill>
                  <a:srgbClr val="FFFFFF"/>
                </a:solidFill>
                <a:latin typeface="Calibri"/>
              </a:defRPr>
            </a:pPr>
            <a:r>
              <a:t>• Veckorapporter med resultat &amp; framsteg</a:t>
            </a:r>
          </a:p>
          <a:p>
            <a:pPr>
              <a:spcAft>
                <a:spcPts val="800"/>
              </a:spcAft>
              <a:defRPr sz="1600">
                <a:solidFill>
                  <a:srgbClr val="FFFFFF"/>
                </a:solidFill>
                <a:latin typeface="Calibri"/>
              </a:defRPr>
            </a:pPr>
            <a:r>
              <a:t>• Personlig kontakt &amp; löpande rådgivning</a:t>
            </a:r>
          </a:p>
        </p:txBody>
      </p:sp>
      <p:sp>
        <p:nvSpPr>
          <p:cNvPr id="7" name="Rounded Rectangle 6"/>
          <p:cNvSpPr/>
          <p:nvPr/>
        </p:nvSpPr>
        <p:spPr>
          <a:xfrm>
            <a:off x="7772400" y="2286000"/>
            <a:ext cx="3657600" cy="27432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0" y="2560320"/>
            <a:ext cx="3657600" cy="365760"/>
          </a:xfrm>
          <a:prstGeom prst="rect">
            <a:avLst/>
          </a:prstGeom>
          <a:noFill/>
        </p:spPr>
        <p:txBody>
          <a:bodyPr wrap="square">
            <a:spAutoFit/>
          </a:bodyPr>
          <a:lstStyle/>
          <a:p>
            <a:pPr algn="ctr">
              <a:defRPr sz="1600" b="0">
                <a:solidFill>
                  <a:srgbClr val="94A3B8"/>
                </a:solidFill>
                <a:latin typeface="Calibri"/>
              </a:defRPr>
            </a:pPr>
            <a:r>
              <a:t>Månadsinsats</a:t>
            </a:r>
          </a:p>
        </p:txBody>
      </p:sp>
      <p:sp>
        <p:nvSpPr>
          <p:cNvPr id="9" name="TextBox 8"/>
          <p:cNvSpPr txBox="1"/>
          <p:nvPr/>
        </p:nvSpPr>
        <p:spPr>
          <a:xfrm>
            <a:off x="7772400" y="3017520"/>
            <a:ext cx="3657600" cy="731520"/>
          </a:xfrm>
          <a:prstGeom prst="rect">
            <a:avLst/>
          </a:prstGeom>
          <a:noFill/>
        </p:spPr>
        <p:txBody>
          <a:bodyPr wrap="square">
            <a:spAutoFit/>
          </a:bodyPr>
          <a:lstStyle/>
          <a:p>
            <a:pPr algn="ctr">
              <a:defRPr sz="4800" b="1">
                <a:solidFill>
                  <a:srgbClr val="E91E8C"/>
                </a:solidFill>
                <a:latin typeface="Calibri"/>
              </a:defRPr>
            </a:pPr>
            <a:r>
              <a:t>5 000 kr</a:t>
            </a:r>
          </a:p>
        </p:txBody>
      </p:sp>
      <p:sp>
        <p:nvSpPr>
          <p:cNvPr id="10" name="TextBox 9"/>
          <p:cNvSpPr txBox="1"/>
          <p:nvPr/>
        </p:nvSpPr>
        <p:spPr>
          <a:xfrm>
            <a:off x="7772400" y="3840480"/>
            <a:ext cx="3657600" cy="365760"/>
          </a:xfrm>
          <a:prstGeom prst="rect">
            <a:avLst/>
          </a:prstGeom>
          <a:noFill/>
        </p:spPr>
        <p:txBody>
          <a:bodyPr wrap="square">
            <a:spAutoFit/>
          </a:bodyPr>
          <a:lstStyle/>
          <a:p>
            <a:pPr algn="ctr">
              <a:defRPr sz="1400" b="0">
                <a:solidFill>
                  <a:srgbClr val="94A3B8"/>
                </a:solidFill>
                <a:latin typeface="Calibri"/>
              </a:defRPr>
            </a:pPr>
            <a:r>
              <a:t>/månad exkl. moms</a:t>
            </a:r>
          </a:p>
        </p:txBody>
      </p:sp>
      <p:sp>
        <p:nvSpPr>
          <p:cNvPr id="11" name="TextBox 10"/>
          <p:cNvSpPr txBox="1"/>
          <p:nvPr/>
        </p:nvSpPr>
        <p:spPr>
          <a:xfrm>
            <a:off x="7772400" y="4297680"/>
            <a:ext cx="3657600" cy="365760"/>
          </a:xfrm>
          <a:prstGeom prst="rect">
            <a:avLst/>
          </a:prstGeom>
          <a:noFill/>
        </p:spPr>
        <p:txBody>
          <a:bodyPr wrap="square">
            <a:spAutoFit/>
          </a:bodyPr>
          <a:lstStyle/>
          <a:p>
            <a:pPr algn="ctr">
              <a:defRPr sz="1400" b="1">
                <a:solidFill>
                  <a:srgbClr val="E91E8C"/>
                </a:solidFill>
                <a:latin typeface="Calibri"/>
              </a:defRPr>
            </a:pPr>
            <a:r>
              <a:t>STANDARD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058400" cy="914400"/>
          </a:xfrm>
          <a:prstGeom prst="rect">
            <a:avLst/>
          </a:prstGeom>
          <a:noFill/>
        </p:spPr>
        <p:txBody>
          <a:bodyPr wrap="square">
            <a:spAutoFit/>
          </a:bodyPr>
          <a:lstStyle/>
          <a:p>
            <a:pPr algn="ctr">
              <a:defRPr sz="4800" b="1">
                <a:solidFill>
                  <a:srgbClr val="FFFFFF"/>
                </a:solidFill>
                <a:latin typeface="Calibri"/>
              </a:defRPr>
            </a:pPr>
            <a:r>
              <a:t>Redo att synas i Google?</a:t>
            </a:r>
          </a:p>
        </p:txBody>
      </p:sp>
      <p:sp>
        <p:nvSpPr>
          <p:cNvPr id="4" name="TextBox 3"/>
          <p:cNvSpPr txBox="1"/>
          <p:nvPr/>
        </p:nvSpPr>
        <p:spPr>
          <a:xfrm>
            <a:off x="1828800" y="2743200"/>
            <a:ext cx="8229600" cy="731520"/>
          </a:xfrm>
          <a:prstGeom prst="rect">
            <a:avLst/>
          </a:prstGeom>
          <a:noFill/>
        </p:spPr>
        <p:txBody>
          <a:bodyPr wrap="square">
            <a:spAutoFit/>
          </a:bodyPr>
          <a:lstStyle/>
          <a:p>
            <a:pPr algn="ctr">
              <a:defRPr sz="2400" b="0">
                <a:solidFill>
                  <a:srgbClr val="94A3B8"/>
                </a:solidFill>
                <a:latin typeface="Calibri"/>
              </a:defRPr>
            </a:pPr>
            <a:r>
              <a:t>Vi kan börja optimera nordicsnus.se redan denna vecka.</a:t>
            </a:r>
          </a:p>
        </p:txBody>
      </p:sp>
      <p:sp>
        <p:nvSpPr>
          <p:cNvPr id="5" name="Rounded Rectangle 4"/>
          <p:cNvSpPr/>
          <p:nvPr/>
        </p:nvSpPr>
        <p:spPr>
          <a:xfrm>
            <a:off x="4114800" y="3840480"/>
            <a:ext cx="3931920" cy="822960"/>
          </a:xfrm>
          <a:prstGeom prst="round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0" y="3931920"/>
            <a:ext cx="3931920" cy="640080"/>
          </a:xfrm>
          <a:prstGeom prst="rect">
            <a:avLst/>
          </a:prstGeom>
          <a:noFill/>
        </p:spPr>
        <p:txBody>
          <a:bodyPr wrap="square">
            <a:spAutoFit/>
          </a:bodyPr>
          <a:lstStyle/>
          <a:p>
            <a:pPr algn="ctr">
              <a:defRPr sz="2800" b="1">
                <a:solidFill>
                  <a:srgbClr val="FFFFFF"/>
                </a:solidFill>
                <a:latin typeface="Calibri"/>
              </a:defRPr>
            </a:pPr>
            <a:r>
              <a:t>Starta idag →</a:t>
            </a:r>
          </a:p>
        </p:txBody>
      </p:sp>
      <p:sp>
        <p:nvSpPr>
          <p:cNvPr id="7" name="Rectangle 6"/>
          <p:cNvSpPr/>
          <p:nvPr/>
        </p:nvSpPr>
        <p:spPr>
          <a:xfrm>
            <a:off x="3657600" y="5303520"/>
            <a:ext cx="4846320" cy="36576"/>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577840"/>
            <a:ext cx="10058400" cy="365760"/>
          </a:xfrm>
          <a:prstGeom prst="rect">
            <a:avLst/>
          </a:prstGeom>
          <a:noFill/>
        </p:spPr>
        <p:txBody>
          <a:bodyPr wrap="square">
            <a:spAutoFit/>
          </a:bodyPr>
          <a:lstStyle/>
          <a:p>
            <a:pPr algn="ctr">
              <a:defRPr sz="1400" b="0">
                <a:solidFill>
                  <a:srgbClr val="94A3B8"/>
                </a:solidFill>
                <a:latin typeface="Calibri"/>
              </a:defRPr>
            </a:pPr>
            <a:r>
              <a:t>Mikael Larsson | mikael@searchboost.se | 0760-19 49 05 | searchboost.se</a:t>
            </a:r>
          </a:p>
        </p:txBody>
      </p:sp>
      <p:sp>
        <p:nvSpPr>
          <p:cNvPr id="9" name="TextBox 8"/>
          <p:cNvSpPr txBox="1"/>
          <p:nvPr/>
        </p:nvSpPr>
        <p:spPr>
          <a:xfrm>
            <a:off x="914400" y="5943600"/>
            <a:ext cx="10058400" cy="365760"/>
          </a:xfrm>
          <a:prstGeom prst="rect">
            <a:avLst/>
          </a:prstGeom>
          <a:noFill/>
        </p:spPr>
        <p:txBody>
          <a:bodyPr wrap="square">
            <a:spAutoFit/>
          </a:bodyPr>
          <a:lstStyle/>
          <a:p>
            <a:pPr algn="ctr">
              <a:defRPr sz="1800" b="1">
                <a:solidFill>
                  <a:srgbClr val="E91E8C"/>
                </a:solidFill>
                <a:latin typeface="Calibri"/>
              </a:defRPr>
            </a:pPr>
            <a:r>
              <a:t>🚀 SEARCHBOOST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