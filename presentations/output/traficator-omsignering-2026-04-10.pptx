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21"/>
    <p:sldId id="271" r:id="rId22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Impressioner</c:v>
                </c:pt>
              </c:strCache>
            </c:strRef>
          </c:tx>
          <c:spPr>
            <a:solidFill>
              <a:srgbClr val="DD3333"/>
            </a:solidFill>
          </c:spPr>
          <c:cat>
            <c:strRef>
              <c:f>Sheet1!$A$2:$A$4</c:f>
              <c:strCache>
                <c:ptCount val="3"/>
                <c:pt idx="0">
                  <c:v>Februari</c:v>
                </c:pt>
                <c:pt idx="1">
                  <c:v>Mars</c:v>
                </c:pt>
                <c:pt idx="2">
                  <c:v>April (9 dagar)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525</c:v>
                </c:pt>
                <c:pt idx="1">
                  <c:v>1463</c:v>
                </c:pt>
                <c:pt idx="2">
                  <c:v>538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3383280" cy="8896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A1A1A"/>
                </a:solidFill>
                <a:latin typeface="Calibri"/>
              </a:rPr>
              <a:t>SEO-resultat och planen framåt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Calibri"/>
              </a:rPr>
              <a:t>Avstämning inför nästa kvartal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D3333"/>
                </a:solidFill>
                <a:latin typeface="Calibri"/>
              </a:rPr>
              <a:t>Fredag 10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Patrik Carlsson, Traficator International AB  ·  Mikael Larsson, Searchboost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Vi går igenom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42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Var vi började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Februari — utgångsläget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3639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95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Vad vi har gjort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393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Två månaders arbete i kort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70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Mätbara resultat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06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GSC-data svart på vitt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71416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445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Vad vi släppte igår kväll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743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4 pelarartiklar + hela service-sajten fixad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Möjligheterna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418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Vad som väntar därute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3333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879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Planen för nästa kvartal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Konkret roadmap och mål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Var vi började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Februari 2026  ·  första månaden med GSC-koppling aktiv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42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525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Impressioner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hela månaden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978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978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978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Klick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78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främst brand-sökningar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Nyckelord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synliga i Google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0507" y="3108960"/>
            <a:ext cx="26517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0507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D3333"/>
                </a:solidFill>
                <a:latin typeface="Calibri"/>
              </a:rPr>
              <a:t>12.8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4206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Snittposition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4572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sida 1–2 på få 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Utgångsläget var svagt — låg synlighet, nästan ingen organisk trafik förutom brand-sökningar.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Vad vi har gjort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Grunden först, hasting 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70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Komplett SEO-audit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6974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Hela sajten genomlyst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54 ABC-nyckelord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1546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19 huvudmål, 20 long-tail, 15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3-månaders åtgärdsplan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6118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142 konkreta uppgifter, prioriterade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41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23 meta-optimeringar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0690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Nyckelsidor uppdaterade i mars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98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Daglig GSC-datainsamling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5262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58 dagar rankings-historik i vårt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56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Tekniska fixar — 127 på en dag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9834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Alt-texter, meta descriptions,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132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Återställda service-sidor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4406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9 st återställda från revisions (se slide 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704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4 pelarartiklar publicerade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89788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8 400 ord teknisk B2B-innehåll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Resultat: impressioner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377440"/>
          <a:ext cx="68580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5603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0B981"/>
                </a:solidFill>
                <a:latin typeface="Calibri"/>
              </a:rPr>
              <a:t>+179%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566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impressions mars vs februari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2062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0B981"/>
                </a:solidFill>
                <a:latin typeface="Calibri"/>
              </a:rPr>
              <a:t>+70%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klick mars vs februari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Mars blev er största SEO-månad hittills.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Nyckelord redan i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Tre A-tier nyckelord som redan rankar i topplistan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NYCKELORD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IMPRESSIONER/MÅN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1155680" cy="20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Gjutning aluminiumlegeringar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66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Bearbetning gjutgods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Centrifugalgjutning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106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D3333"/>
                </a:solidFill>
                <a:latin typeface="Calibri"/>
              </a:rPr>
              <a:t>Målet för detta kvartal: 8–10 Top-10 nyckelord (från 3 idag)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Pelarartiklar LIVE på traficator.se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~8 400 ord teknisk branschkunskap  ·  publicerat 9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97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Pressgjutning aluminium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63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Komplett guide 2026  ·  2049 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19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traficator.se/pressgjutning-aluminium-guide/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10  (pos 37 idag)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Centrifugalgjutning i Sverige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23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När det lönar sig  ·  2013 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traficator.se/centrifugalgjutning-sverige-nar-lonar/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5  (pos 9 idag)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17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Aluminiumgjutning vs pressgjutning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83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Skillnader och val  ·  2097 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395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traficator.se/aluminiumgjutning-vs-pressgjutning-skillnader/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~200 imp/mån samlat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333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Bearbetning av gjutgods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Toleranser och metoder  ·  2245 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61996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5AD"/>
                </a:solidFill>
                <a:latin typeface="Calibri"/>
              </a:rPr>
              <a:t>traficator.se/bearbetning-gjutgods-toleranser-metoder/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  <a:latin typeface="Calibri"/>
              </a:rPr>
              <a:t>Mål: topp 3  (pos 8 idag)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Bonus: hela service-sajten fixad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När vi grävde i sajten igår kväll upptäckte vi att 9 service-sidor var helt tomma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Era service-sidor (Metallgjutning, Sandgjutning, Pressgjutning, Centrifugalgjutning, Precisionsgjutning, Aluminiumlegeringar, Smide, Bearbetning, Våra tjänster) saknade synlig text. Endast Schema.org-markup fanns kvar. Det innebar att Google inte kunde förstå sidorna och besökare såg en tom sida.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3333"/>
                </a:solidFill>
                <a:latin typeface="Calibri"/>
              </a:rPr>
              <a:t>Vi återställde innehållet från WordPress revisionshistorik — totalt ~37 500 tecken professionell branschtext som nu syns för både besökare och Google.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1097280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0B981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service-sidor återställda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~37 500 tecken innehåll synligt 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Totalt kvarvarande tid från början: &lt;2 timmar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Möjligheten som väntar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Pressgjutnings-familjen  ·  500+ impressioner/mån som inte konverterar till klick än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NYCKELORD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IMP/MÅN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POTENTIELLA KLICK (TOPP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18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218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2186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35–50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216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 aluminium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216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216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21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25–35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Pressgjutning av aluminium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24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24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20–30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Gjutning aluminium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727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727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727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12–18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66360"/>
            <a:ext cx="11155680" cy="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30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Aluminiumgjutning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2303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303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7–12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D3333"/>
                </a:solidFill>
                <a:latin typeface="Calibri"/>
              </a:rPr>
              <a:t>~100–150 nya klick/månad  ·  utan en krona i annonsbudget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Referens: vi levererar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Nordic Snus Online  ·  ny kund  ·  en månad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3333"/>
                </a:solidFill>
                <a:latin typeface="Calibri"/>
              </a:rPr>
              <a:t>UTMANINGEN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Nordic Snus Online får inte köra Google Ads eller Meta Ads (tobakslagstiftningen). Konkurrenter sa "omöjligt att växa utan annonser".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3333"/>
                </a:solidFill>
                <a:latin typeface="Calibri"/>
              </a:rPr>
              <a:t>VAD VI GJORDE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Fullt fokus på organisk sökoptimering + AI-söksynlighet. Produktbeskrivningar omskrivna för ChatGPT och Perplexity. Strukturerad data för produktfeeden. Kategorisidor omstrukturerade kring faktiska sökintentioner.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972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Resultat efter första månaden: markant ökad exponering och nöjd kund.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Calibri"/>
              </a:rPr>
              <a:t>Planen för nästa 6 månader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April–Maj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7432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Pelarartiklar levererade  ·  8–12 stödartiklar  ·  schema markup  ·  interna länkar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611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+300–500 impressions  ·  3–5 nya top-10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Juni–Juli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9319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A-tier expansion: material sourcing (320) · cnc-bearbetning leverantör (210) · gjutgods leverantör (110)  ·  800+ nya sökningar/mån i sikte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800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Första top-10 på "sourcing"-familjen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D3333"/>
                </a:solidFill>
                <a:latin typeface="Calibri"/>
              </a:rPr>
              <a:t>Augusti–September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206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Konvertering: CTA-optimering  ·  case studies  ·  backlinks från branschmedia  ·  månadsrapport-serie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989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Första ROI-rapporten  ·  kvalificerade leads via offert-formuläret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Målen för kvartalet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42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42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3000+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42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Impressioner/mån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1463 idag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978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978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978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Klick/mån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978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17 idag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8–10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Top-10 keywords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från 3 idag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0507" y="2834640"/>
            <a:ext cx="265176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0507" y="320040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D3333"/>
                </a:solidFill>
                <a:latin typeface="Calibri"/>
              </a:rP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0507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Calibri"/>
              </a:rPr>
              <a:t>Leads/mån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0507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via offert-flödet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Inom 90 dagar.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432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Calibri"/>
              </a:rPr>
              <a:t>Vi kör på. Tre månader till.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" cy="54864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Samma upplägg, samma investering — ny fas: content och konvertering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Från vår sida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28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Pelarartiklar + stödartiklar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Teknisk SEO löpande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A-tier keyword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Månadsrapport första måndagen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Dedikerad tid i kalendern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76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Från er sida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76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Samma admin-access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15 min månatlig avstämning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Bolla content-idéer löpande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Godkänna större ändringar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Dela marknadsinsikter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2743200"/>
            <a:ext cx="3566160" cy="64008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3247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Investering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3383280"/>
            <a:ext cx="356616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847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Samma månadskostnad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3 månader framåt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Ingen prisändring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Ingen uppsägningstid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 Tydlig ROI i månadsrapporten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D3333"/>
                </a:solidFill>
                <a:latin typeface="Calibri"/>
              </a:rPr>
              <a:t>Vi bara förnyar — samma avtal, nya 3 månader, samma arvode.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Traficator  •  Omsignering  •  10 april 2026  •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ficat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743200" cy="721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Calibri"/>
              </a:rPr>
              <a:t>Tack för förtroendet.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Calibri"/>
              </a:rPr>
              <a:t>Vi ses efter mötet.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Mikael Larsson  ·  Searchboost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3333"/>
                </a:solidFill>
                <a:latin typeface="Calibri"/>
              </a:rPr>
              <a:t>mikael@searchboost.se  ·  searchboost.se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Utöver artiklar — 20+ nya landningssidor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Permanenta sidor som bygger Traficator till den självklara resursen för gjutning i Sverige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Branschsidor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5 sidor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Fordon • Marin • Energi</a:t>
            </a:r>
            <a:br/>
            <a:r>
              <a:t>Bygg • Medicinteknik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Eget sökords-kluster</a:t>
            </a:r>
            <a:br/>
            <a:r>
              <a:t>per bransch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Materialsidor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4 sidor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Koppar/mässing • Rostfritt</a:t>
            </a:r>
            <a:br/>
            <a:r>
              <a:t>Zink • Gjutjärn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Rankar på</a:t>
            </a:r>
            <a:br/>
            <a:r>
              <a:t>materialsökningar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Jämförelsesidor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4 sidor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Sand vs Press • CNC vs Gjutning</a:t>
            </a:r>
            <a:br/>
            <a:r>
              <a:t>3D-print vs Gjutning • SE vs Kina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Decision-stage trafik</a:t>
            </a:r>
            <a:br/>
            <a:r>
              <a:t>hög konvertering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Resurssidor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4 sidor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Materialguiden • Offertformulär</a:t>
            </a:r>
            <a:br/>
            <a:r>
              <a:t>Referensprojekt • Ordlista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Lead magnets +</a:t>
            </a:r>
            <a:br/>
            <a:r>
              <a:t>SEO-auktoritet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7490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Geografiska sidor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0233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2 sidor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Gjuteri Småland</a:t>
            </a:r>
            <a:br/>
            <a:r>
              <a:t>Gjuteri Sverige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Lokala sökningar</a:t>
            </a:r>
            <a:br/>
            <a:r>
              <a:t>nära köpbeslut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657600"/>
            <a:ext cx="26517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7490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FAQ-expansion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233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30+ frågor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Kostnad • Leveranstid</a:t>
            </a:r>
            <a:br/>
            <a:r>
              <a:t>Min-order • Legeringsval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029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Featured snippets</a:t>
            </a:r>
            <a:br/>
            <a:r>
              <a:t>i Google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06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Totalt: ~20 nya permanenta sidor  •  Uppskattad tid: 5-7 arbetsdagar  •  Ingen är blogg — alla bygger sajt-auktoritet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TOPP-MÖJLIGHETER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Konkreta sidor vi bygger nästa kvartal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Prioriterade efter sökvolym och konverteringspotential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3333"/>
                </a:solidFill>
                <a:latin typeface="Calibri"/>
              </a:defRPr>
            </a:pPr>
            <a:r>
              <a:t>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3333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3333"/>
                </a:solidFill>
                <a:latin typeface="Calibri"/>
              </a:defRPr>
            </a:pPr>
            <a:r>
              <a:t>SÖKVOLYM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D3333"/>
                </a:solidFill>
                <a:latin typeface="Calibri"/>
              </a:defRPr>
            </a:pPr>
            <a:r>
              <a:t>SYFTE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8229600" cy="18288"/>
          </a:xfrm>
          <a:prstGeom prst="rect">
            <a:avLst/>
          </a:prstGeom>
          <a:solidFill>
            <a:srgbClr val="DD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8229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Gjutning fordonsindustrin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/branscher/fordon/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100-200/mån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B2B-beslutsfattare inom fordon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22576"/>
            <a:ext cx="8229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CNC vs gjutning — när lönar sig vad?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/jamfor/cnc-vs-gjutning/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350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80-150/mån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50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Ingenjörer som utvärderar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98064"/>
            <a:ext cx="8229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25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Gjutning vs 3D-print metall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8254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/jamfor/gjutning-vs-3d-print/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825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60-120/mån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25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Trending — framtidsinriktat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73552"/>
            <a:ext cx="8229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00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Gjuteri Sverige — översikt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300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/gjuteri-sverige/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3009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90-170/mån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300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Geo-sökning, nära offert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8229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Materialguiden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776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/guider/materialguiden/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776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Lead magnet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776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Offertformulär i botten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24528"/>
            <a:ext cx="8229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Referensprojekt / Case studies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/referensprojekt/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251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Trust-signal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Konvertering, ej sökvolym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00016"/>
            <a:ext cx="822960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27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Gjutteknisk ordlista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727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/ordlista/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727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50+ longtail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727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Featured snippets × 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75503"/>
            <a:ext cx="8229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2029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Offert-sida med strukturerat formulär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2029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/offert/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2029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3333"/>
                </a:solidFill>
                <a:latin typeface="Calibri"/>
              </a:defRPr>
            </a:pPr>
            <a:r>
              <a:t>Konvertering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2029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Material, volym, tolerans, deadline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Alla sidor byggs SEO-first med internlänkar till befintliga artiklar och tjänstesidor — multiplicerar effekten av allt vi redan gjort.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