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1E8C"/>
                </a:solidFill>
                <a:latin typeface="Calibri"/>
              </a:rPr>
              <a:t>SEARCHBOOST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Hur systemet fungerar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8AA8"/>
                </a:solidFill>
                <a:latin typeface="Calibri"/>
              </a:rPr>
              <a:t>Searchboost Opti — Automatisk SEO-optimering från prospekt till rapport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Februari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097280"/>
            <a:ext cx="2377440" cy="4389120"/>
          </a:xfrm>
          <a:prstGeom prst="rect">
            <a:avLst/>
          </a:prstGeom>
          <a:solidFill>
            <a:srgbClr val="1414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8AA8"/>
                </a:solidFill>
                <a:latin typeface="Calibri"/>
              </a:rPr>
              <a:t>Kunder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645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Calibri"/>
              </a:rPr>
              <a:t>10 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8AA8"/>
                </a:solidFill>
                <a:latin typeface="Calibri"/>
              </a:rPr>
              <a:t>Opt/mån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676"/>
                </a:solidFill>
                <a:latin typeface="Calibri"/>
              </a:rPr>
              <a:t>~450 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8AA8"/>
                </a:solidFill>
                <a:latin typeface="Calibri"/>
              </a:rPr>
              <a:t>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474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C4DFF"/>
                </a:solidFill>
                <a:latin typeface="Calibri"/>
              </a:rPr>
              <a:t>4 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8AA8"/>
                </a:solidFill>
                <a:latin typeface="Calibri"/>
              </a:rPr>
              <a:t>Uptime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B35"/>
                </a:solidFill>
                <a:latin typeface="Calibri"/>
              </a:rPr>
              <a:t>99.9 %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Systemöversikt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2743200" cy="3657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828800"/>
            <a:ext cx="1828800" cy="21945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Prospekt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Lägg till
via Dashboard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926080.0"/>
            <a:ext cx="320040" cy="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51760" y="1828800"/>
            <a:ext cx="1828800" cy="2194560"/>
          </a:xfrm>
          <a:prstGeom prst="rect">
            <a:avLst/>
          </a:prstGeom>
          <a:solidFill>
            <a:srgbClr val="14141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4D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SEO-Audit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Crawla WP
Hitta problem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926080.0"/>
            <a:ext cx="320040" cy="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92040" y="1828800"/>
            <a:ext cx="1828800" cy="2194560"/>
          </a:xfrm>
          <a:prstGeom prst="rect">
            <a:avLst/>
          </a:prstGeom>
          <a:solidFill>
            <a:srgbClr val="14141E"/>
          </a:solidFill>
          <a:ln w="1905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91E8C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Åtgärdsplan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971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AI genererar
3-månadsplan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2926080.0"/>
            <a:ext cx="320040" cy="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32320" y="1828800"/>
            <a:ext cx="1828800" cy="21945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E676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Optimering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71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Claude skriver
metadata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2926080.0"/>
            <a:ext cx="320040" cy="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372600" y="1828800"/>
            <a:ext cx="1828800" cy="219456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6B35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423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Rapport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9718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Veckomail
+ Kundportal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A8"/>
                </a:solidFill>
                <a:latin typeface="Calibri"/>
              </a:rPr>
              <a:t>Hela kedjan kör autonomt — Mikael säljer, systemet levererar.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Datainsamling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D4FF"/>
                </a:solidFill>
                <a:latin typeface="Calibri"/>
              </a:rPr>
              <a:t>Lambda: weekly-audit  —  Måndag 06:00 CET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4864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Crawlar WP REST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Hämtar alla sidor + metadata per kund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54864" cy="5943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Analyserar SEO-brister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Title, H1, meta-desc, schema, canonical, alt-text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4864" cy="5943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91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Prioriterar uppgifter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Impact-score 1–10 avgör köordning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54864" cy="5943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Fyller seo_work_queue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BigQuery-tabell med status pending/done/error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54864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GSC-data samlas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57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Sökord, positioner, klick — partitionerad per dag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566160" cy="4389120"/>
          </a:xfrm>
          <a:prstGeom prst="rect">
            <a:avLst/>
          </a:prstGeom>
          <a:solidFill>
            <a:srgbClr val="14141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4DFF"/>
                </a:solidFill>
                <a:latin typeface="Calibri"/>
              </a:rPr>
              <a:t>BigQuery — 10 tabeller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customer_pipeline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14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customer_keywords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70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seo_work_queue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seo_optimization_log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83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action_plans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weekly_reports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gsc_daily_metrics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537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ads_daily_metrics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910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social_daily_metrics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• data_collection_log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Automatisk optimering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E676"/>
                </a:solidFill>
                <a:latin typeface="Calibri"/>
              </a:rPr>
              <a:t>Lambda: autonomous-optimizer  —  Var 6:e timme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32004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182880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4DFF"/>
                </a:solidFill>
                <a:latin typeface="Calibri"/>
              </a:rPr>
              <a:t>seo_work_queue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Hämtar nästa
uppgift (prio)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43200.0"/>
            <a:ext cx="320040" cy="0.0"/>
          </a:xfrm>
          <a:prstGeom prst="line">
            <a:avLst/>
          </a:prstGeom>
          <a:ln w="25400">
            <a:solidFill>
              <a:srgbClr val="00E67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51760" y="1828800"/>
            <a:ext cx="182880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1E8C"/>
                </a:solidFill>
                <a:latin typeface="Calibri"/>
              </a:rPr>
              <a:t>Claude Haiku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Genererar
optimerad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2743200.0"/>
            <a:ext cx="320040" cy="0.0"/>
          </a:xfrm>
          <a:prstGeom prst="line">
            <a:avLst/>
          </a:prstGeom>
          <a:ln w="25400">
            <a:solidFill>
              <a:srgbClr val="00E67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92040" y="1828800"/>
            <a:ext cx="182880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Calibri"/>
              </a:rPr>
              <a:t>WordPress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Skriver title,
desc, schema, H1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6560" y="2743200.0"/>
            <a:ext cx="320040" cy="0.0"/>
          </a:xfrm>
          <a:prstGeom prst="line">
            <a:avLst/>
          </a:prstGeom>
          <a:ln w="25400">
            <a:solidFill>
              <a:srgbClr val="00E67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0" y="1828800"/>
            <a:ext cx="182880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676"/>
                </a:solidFill>
                <a:latin typeface="Calibri"/>
              </a:rPr>
              <a:t>BigQuery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Loggar utfört
arbete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840" y="2743200.0"/>
            <a:ext cx="320040" cy="0.0"/>
          </a:xfrm>
          <a:prstGeom prst="line">
            <a:avLst/>
          </a:prstGeom>
          <a:ln w="25400">
            <a:solidFill>
              <a:srgbClr val="00E67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72600" y="1828800"/>
            <a:ext cx="1828800" cy="182880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Calibri"/>
              </a:rPr>
              <a:t>Trello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514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A8"/>
                </a:solidFill>
                <a:latin typeface="Calibri"/>
              </a:rPr>
              <a:t>Skapar kort
i DONE-listan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11430000" cy="2423160"/>
          </a:xfrm>
          <a:prstGeom prst="rect">
            <a:avLst/>
          </a:prstGeom>
          <a:solidFill>
            <a:srgbClr val="14141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Säkerhetsregler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Budgettak: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Basic: 15 opt/mån  |  Standard: 30  |  Premium: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Inga nyckelord: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Skippar kunden helt denna körning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Ingen åtgärdsplan: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526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Kör bara: title, H1, schema, thin 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Calibri"/>
              </a:rPr>
              <a:t>Redirect-sida: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Skippar sidan — ändrar aldrig redirect-destinationer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Veckolog &amp; Viktor-dag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3200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5120640"/>
          </a:xfrm>
          <a:prstGeom prst="rect">
            <a:avLst/>
          </a:prstGeom>
          <a:solidFill>
            <a:srgbClr val="1414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Veckomail — Måndag 08:00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→  Antal optimeringar denna vecka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→  Per kund — vilka sidor förbättrades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→  Nyckelordspositioner (GSC)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→  Kommande veckas planerade arbete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→  Sammanfattning i BigQuery: weekly_reports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669280" cy="5120640"/>
          </a:xfrm>
          <a:prstGeom prst="rect">
            <a:avLst/>
          </a:prstGeom>
          <a:solidFill>
            <a:srgbClr val="1414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  <a:latin typeface="Calibri"/>
              </a:rPr>
              <a:t>Viktor-dag — Tisdag 09:00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Trello-kort skapas automatiskt varje tisdag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Kunder med fel i arbets­kön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Kunder utan nyckelord / åtgärdsplan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49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Inaktiva kunder (0 opt denna vecka)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Statistik: totalt antal opt per kund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✓  Viktor bockar av punkterna under dagen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Månadsrapport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A8"/>
                </a:solidFill>
                <a:latin typeface="Calibri"/>
              </a:rPr>
              <a:t>Vad kunden ser — och vad vi mäter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2743200" cy="3657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Organisk trafik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+X klick/mån
vs förra månaden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Nyckelordpositioner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Genomsnittlig
position GSC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657600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Utförda opt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Antal sidor
förbättrade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3657600" cy="54864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ROI-uppskattning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Trafikvärde
vs månadskostnad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3657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Nästa steg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Prioriterad plan
kommande 30 dagar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840480"/>
            <a:ext cx="3657600" cy="2011680"/>
          </a:xfrm>
          <a:prstGeom prst="rect">
            <a:avLst/>
          </a:prstGeom>
          <a:solidFill>
            <a:srgbClr val="14141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84048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023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Budget-status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262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Använda opt
av budget­tak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Kundzon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FF"/>
                </a:solidFill>
                <a:latin typeface="Calibri"/>
              </a:rPr>
              <a:t>opti.searchboost.nu — vad kunden 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4864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Prestanda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Klick, impressioner,
genomsnittlig pos.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54864" cy="685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Sökord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Alla rankade sökord
med trend-pilar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54864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Optimeringar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Tidslinje: vad vi
gjort och när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54864" cy="6858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Åtgärdsplan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36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Nästa 3 månaders
prioriterade uppgifter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03520"/>
            <a:ext cx="54864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AI-chatt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650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A8"/>
                </a:solidFill>
                <a:latin typeface="Calibri"/>
              </a:rPr>
              <a:t>Fråga om sin data:
'Varför minskade klick?'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188720"/>
            <a:ext cx="5212080" cy="5212080"/>
          </a:xfrm>
          <a:prstGeom prst="rect">
            <a:avLst/>
          </a:prstGeom>
          <a:solidFill>
            <a:srgbClr val="10101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1188720"/>
            <a:ext cx="5212080" cy="4114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234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A8"/>
                </a:solidFill>
                <a:latin typeface="Calibri"/>
              </a:rPr>
              <a:t>opti.searchboost.nu/portal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1828800"/>
            <a:ext cx="4846320" cy="658368"/>
          </a:xfrm>
          <a:prstGeom prst="rect">
            <a:avLst/>
          </a:prstGeom>
          <a:solidFill>
            <a:srgbClr val="14141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A8"/>
                </a:solidFill>
                <a:latin typeface="Calibri"/>
              </a:rPr>
              <a:t>Organisk trafik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488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Calibri"/>
              </a:rPr>
              <a:t>+23 % vs förra månaden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606040"/>
            <a:ext cx="4846320" cy="658368"/>
          </a:xfrm>
          <a:prstGeom prst="rect">
            <a:avLst/>
          </a:prstGeom>
          <a:solidFill>
            <a:srgbClr val="14141E"/>
          </a:solidFill>
          <a:ln w="101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A8"/>
                </a:solidFill>
                <a:latin typeface="Calibri"/>
              </a:rPr>
              <a:t>Genomsnittlig pos.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26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  <a:latin typeface="Calibri"/>
              </a:rPr>
              <a:t>14.2 → 11.8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3383280"/>
            <a:ext cx="4846320" cy="658368"/>
          </a:xfrm>
          <a:prstGeom prst="rect">
            <a:avLst/>
          </a:prstGeom>
          <a:solidFill>
            <a:srgbClr val="14141E"/>
          </a:solidFill>
          <a:ln w="1016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A8"/>
                </a:solidFill>
                <a:latin typeface="Calibri"/>
              </a:rPr>
              <a:t>Opt. denna månad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03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4DFF"/>
                </a:solidFill>
                <a:latin typeface="Calibri"/>
              </a:rPr>
              <a:t>34 st klara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4160520"/>
            <a:ext cx="4846320" cy="658368"/>
          </a:xfrm>
          <a:prstGeom prst="rect">
            <a:avLst/>
          </a:prstGeom>
          <a:solidFill>
            <a:srgbClr val="14141E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AA8"/>
                </a:solidFill>
                <a:latin typeface="Calibri"/>
              </a:rPr>
              <a:t>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805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Calibri"/>
              </a:rPr>
              <a:t>34/50 använda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Tekniskt flöde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A8"/>
                </a:solidFill>
                <a:latin typeface="Calibri"/>
              </a:rPr>
              <a:t>Alla system som pratar med varandra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2743200" cy="3657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2743200"/>
            <a:ext cx="1463040" cy="822960"/>
          </a:xfrm>
          <a:prstGeom prst="rect">
            <a:avLst/>
          </a:prstGeom>
          <a:solidFill>
            <a:srgbClr val="14141E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816352"/>
            <a:ext cx="14630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91E8C"/>
                </a:solidFill>
                <a:latin typeface="Calibri"/>
              </a:rPr>
              <a:t>EC2
(Express)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1371600" cy="640080"/>
          </a:xfrm>
          <a:prstGeom prst="rect">
            <a:avLst/>
          </a:prstGeom>
          <a:solidFill>
            <a:srgbClr val="14141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2084832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C4DFF"/>
                </a:solidFill>
                <a:latin typeface="Calibri"/>
              </a:rPr>
              <a:t>BigQuery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3931920"/>
            <a:ext cx="1371600" cy="640080"/>
          </a:xfrm>
          <a:prstGeom prst="rect">
            <a:avLst/>
          </a:prstGeom>
          <a:solidFill>
            <a:srgbClr val="14141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4005072"/>
            <a:ext cx="1371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WordPress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5029200"/>
            <a:ext cx="1097280" cy="640080"/>
          </a:xfrm>
          <a:prstGeom prst="rect">
            <a:avLst/>
          </a:prstGeom>
          <a:solidFill>
            <a:srgbClr val="14141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510235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676"/>
                </a:solidFill>
                <a:latin typeface="Calibri"/>
              </a:rPr>
              <a:t>GSC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1097280" cy="640080"/>
          </a:xfrm>
          <a:prstGeom prst="rect">
            <a:avLst/>
          </a:prstGeom>
          <a:solidFill>
            <a:srgbClr val="14141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10235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35"/>
                </a:solidFill>
                <a:latin typeface="Calibri"/>
              </a:rPr>
              <a:t>Trello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011680"/>
            <a:ext cx="1097280" cy="731520"/>
          </a:xfrm>
          <a:prstGeom prst="rect">
            <a:avLst/>
          </a:prstGeom>
          <a:solidFill>
            <a:srgbClr val="14141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084832"/>
            <a:ext cx="1097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D4FF"/>
                </a:solidFill>
                <a:latin typeface="Calibri"/>
              </a:rPr>
              <a:t>Kund
(Portal)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188720"/>
            <a:ext cx="1097280" cy="731520"/>
          </a:xfrm>
          <a:prstGeom prst="rect">
            <a:avLst/>
          </a:prstGeom>
          <a:solidFill>
            <a:srgbClr val="14141E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1261872"/>
            <a:ext cx="1097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C4DFF"/>
                </a:solidFill>
                <a:latin typeface="Calibri"/>
              </a:rPr>
              <a:t>Lambda
×4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188720"/>
            <a:ext cx="1097280" cy="731520"/>
          </a:xfrm>
          <a:prstGeom prst="rect">
            <a:avLst/>
          </a:prstGeom>
          <a:solidFill>
            <a:srgbClr val="14141E"/>
          </a:solidFill>
          <a:ln w="25400">
            <a:solidFill>
              <a:srgbClr val="E91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1261872"/>
            <a:ext cx="1097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91E8C"/>
                </a:solidFill>
                <a:latin typeface="Calibri"/>
              </a:rPr>
              <a:t>Claude
Haiku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35040.0" y="2331720.0"/>
            <a:ext cx="3611880.0" cy="822960.0"/>
          </a:xfrm>
          <a:prstGeom prst="line">
            <a:avLst/>
          </a:prstGeom>
          <a:ln w="25400">
            <a:solidFill>
              <a:srgbClr val="7C4D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.0" y="3154680.0"/>
            <a:ext cx="3611880.0" cy="109728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852160.0" y="3154680.0"/>
            <a:ext cx="182880.0" cy="2194560.0"/>
          </a:xfrm>
          <a:prstGeom prst="line">
            <a:avLst/>
          </a:prstGeom>
          <a:ln w="25400">
            <a:solidFill>
              <a:srgbClr val="00E67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920240.0" y="3154680.0"/>
            <a:ext cx="4114800.0" cy="2194560.0"/>
          </a:xfrm>
          <a:prstGeom prst="line">
            <a:avLst/>
          </a:prstGeom>
          <a:ln w="25400">
            <a:solidFill>
              <a:srgbClr val="FF6B3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920240.0" y="2377440.0"/>
            <a:ext cx="4114800.0" cy="777240.0"/>
          </a:xfrm>
          <a:prstGeom prst="line">
            <a:avLst/>
          </a:prstGeom>
          <a:ln w="25400">
            <a:solidFill>
              <a:srgbClr val="00D4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57600.0" y="1554480.0"/>
            <a:ext cx="2377440.0" cy="1600200.0"/>
          </a:xfrm>
          <a:prstGeom prst="line">
            <a:avLst/>
          </a:prstGeom>
          <a:ln w="25400">
            <a:solidFill>
              <a:srgbClr val="7C4DFF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035040.0" y="1554480.0"/>
            <a:ext cx="2011679.0" cy="1600200.0"/>
          </a:xfrm>
          <a:prstGeom prst="line">
            <a:avLst/>
          </a:prstGeom>
          <a:ln w="25400">
            <a:solidFill>
              <a:srgbClr val="E91E8C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Kundstatus — februari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36576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Kund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1430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WP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1430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GSC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1430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Nyckelord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Åtgärdsplan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430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AA8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11612880" cy="411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searchboost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6002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60020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6002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Aktiv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03911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kompetensutveckla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0391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03911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03911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039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039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Aktiv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32304"/>
            <a:ext cx="11612880" cy="411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4780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ilmonte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47802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47802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47802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4780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47802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  <a:latin typeface="Calibri"/>
              </a:rPr>
              <a:t>Aktiv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291693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mobelrondellen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291693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291693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29169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1693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91693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Aktiv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10128"/>
            <a:ext cx="11612880" cy="411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3558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phvast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33558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33558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335584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35584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335584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Aktiv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7947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tobler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379476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379476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379476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37947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Delvis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379476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  <a:latin typeface="Calibri"/>
              </a:rPr>
              <a:t>Aktiv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187952"/>
            <a:ext cx="11612880" cy="411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23367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traficator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2336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423367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423367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42336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Delvis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42336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  <a:latin typeface="Calibri"/>
              </a:rPr>
              <a:t>Aktiv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467258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smalandskontorsmobler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46725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46725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0520" y="467258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676"/>
                </a:solidFill>
                <a:latin typeface="Calibri"/>
              </a:rPr>
              <a:t>Ja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40680" y="467258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Nej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467258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Delvis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065776"/>
            <a:ext cx="11612880" cy="411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511149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wedosigns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14600" y="511149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37560" y="5111496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60520" y="511149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Nej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0680" y="511149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Nej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86600" y="511149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Saknas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55504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ferox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14600" y="55504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37560" y="555040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6B35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60520" y="555040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Nej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55040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8"/>
                </a:solidFill>
                <a:latin typeface="Calibri"/>
              </a:rPr>
              <a:t>Nej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555040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91E8C"/>
                </a:solidFill>
                <a:latin typeface="Calibri"/>
              </a:rPr>
              <a:t>Ej aktiv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309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A8"/>
                </a:solidFill>
                <a:latin typeface="Calibri"/>
              </a:rPr>
              <a:t>7 av 10 kunder kör automatisk optimering idag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