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5943600" y="-1828800"/>
            <a:ext cx="7315200" cy="9144000"/>
          </a:xfrm>
          <a:prstGeom prst="rect">
            <a:avLst/>
          </a:prstGeom>
          <a:solidFill>
            <a:srgbClr val="E8752A">
              <a:alpha val="9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37160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Webbanalys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Nuläge, Problem &amp; Åtgärdsplan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sourcing av metallprodukter — gjutgods, stål, CNC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Nulägesanalys — teknik &amp; SEO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320040" cy="32004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55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17556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Kritiska problem (5 st)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185416"/>
            <a:ext cx="32004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854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1854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Viktiga problem (10 st)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615184"/>
            <a:ext cx="32004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615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6151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Textsynlighet &amp; Mobilproblem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0449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Rekommenderade plugins &amp; verktyg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474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— konkreta idéer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57200" y="3904488"/>
            <a:ext cx="320040" cy="32004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9044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9044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SEO-strategi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334256"/>
            <a:ext cx="320040" cy="320040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334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43342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Åtgärdsplan — vecka för vecka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Traficator.se — Nuläge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80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280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6.9.4 + Flatsome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1755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Math SEO Pro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31136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2311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22311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LiteSpeed (TTFB: 32ms)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0662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Språk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270662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Polylang (sv + en)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821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1821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korrekt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3840480" cy="384048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57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Storlek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36576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 KB totalt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280160"/>
            <a:ext cx="39319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Bedömning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 teknisk grund — men allvarliga SEO-problem hindrar synlighet i Google.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0" y="28346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623560" y="2834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Kritiska problem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6235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Viktiga problem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840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5623560" y="3840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Sidor saknas i sitemap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Kritiska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8686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35331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DUPLICERAT INNEHÅLL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6733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bloggartiklar finns i dubblett/tripplett med egna URL:er och canonical-taggar. Google straffar detta med lägre ranking.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31720"/>
            <a:ext cx="54864" cy="8686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40487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SIDOR SAKNAS I SITEMAP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272491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tjänstesidor (sandgjutning, pressgjutning, smide m.fl.) och blogginlägg saknas helt från XML-sitemapen. Google hittar dem inte.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86868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54864" cy="8686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34440" y="3456432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TESTSIDA INDEXERBAR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77647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/_test-2/ finns i sitemap men returnerar 404-fel. Skadar sajtens trovärdighet hos sökmotorer.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Kritiska Problem (forts.)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10972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34440" y="138988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ENGELSKA SIDAN FEL CANONICAL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7373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/en/ pekar canonical till svenska startsidan. Den engelska versionen kan ALDRIG ranka i Google. All internationell synlighet försvinner.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51760"/>
            <a:ext cx="54864" cy="109728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34440" y="276148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OG-BILD ÄR PLATSHÅLLARE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0896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delning (LinkedIn, Facebook) visar "dummy-1.jpg" — en 1 KB platshållarbild. Extremt oprofessionellt för ett B2B-företag inom metallgjutning.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Viktiga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280160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Tjänstesidan /vara-tjanster/ saknar H1 och rubrikstruktur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01952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901952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1901952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Kontaktsidan saknar H1-rubrik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23744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2374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523744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Duplicerad Corporation-schema (2 identiska block i footer)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45536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145536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14553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TVÅ GTM-containrar laddas — ger dubbla sidvisningar i Analytics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67328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67328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76732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Författarnamn "admin-dev" exponerat i sökresultat och schema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Viktiga Problem (forts.)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280160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280160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Hreflang ofullständig — bara startsidan har sv/en-koppling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01952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901952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1901952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Aluminiumlegeringar-sidan saknar meta description helt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23744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523744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523744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Bilder utan alt-text — tillgänglighet + SEO-problem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145536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145536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145536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145536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WordPress-version exponerad i källkod (säkerhetsrisk)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67328"/>
            <a:ext cx="8229600" cy="48463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67328"/>
            <a:ext cx="54864" cy="4846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3767328"/>
            <a:ext cx="3200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767328"/>
            <a:ext cx="7498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Kontaktformulär kräver JavaScript — visar felmeddelande vid långsam laddning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Texter &amp; Mobilversion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0" y="1371600"/>
            <a:ext cx="1097280" cy="274320"/>
          </a:xfrm>
          <a:prstGeom prst="rect">
            <a:avLst/>
          </a:prstGeom>
          <a:solidFill>
            <a:srgbClr val="D9404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0664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KRITISKT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27101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Hero-text osynlig vid bildfel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52704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text (#fbf9f9) på parallax-bakgrund. Om bilden inte laddar syns texten inte alls mot den blå standardfärgen.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47672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084832"/>
            <a:ext cx="109728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0664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1984248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 på mobil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22402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Parallax-effekt orsakar lagg, hackig scrollning och rörigt beteende på telefoner. Bör stängas av för mobil.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2798064"/>
            <a:ext cx="109728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27980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" y="269748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Fade-effekt döljer 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29535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opacity: 0.6 gör text halvtransparent och svårläst, särskilt på mobila enheter.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74136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0" y="3511296"/>
            <a:ext cx="1097280" cy="274320"/>
          </a:xfrm>
          <a:prstGeom prst="rect">
            <a:avLst/>
          </a:prstGeom>
          <a:solidFill>
            <a:srgbClr val="F5A623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35112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VIKTIGT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41071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Kontaktformulär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6667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Visar "This form requires JavaScript!" om JS är långsamt. Besökare ser tomt formulär.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087368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0" y="4224528"/>
            <a:ext cx="1097280" cy="274320"/>
          </a:xfrm>
          <a:prstGeom prst="rect">
            <a:avLst/>
          </a:prstGeom>
          <a:solidFill>
            <a:srgbClr val="7C8CA1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406640" y="4224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41239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Footer-kontrast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379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Röd bakgrund (#dd3333) med vit text — gränsfall för WCAG tillgänglighetskrav.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Rekommenderade Verktyg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4630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Verktyg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Kostnad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Effekt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YITH Request a Quote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Offerthantering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~1 300 kr/ar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WPForms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Flerstegformular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~2 000 kr/ar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FluentCRM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E-postautomation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~1 300 kr/ar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A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Testimonials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Kundomdomen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A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Rocket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Prestanda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kr/ar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Cloudflare CDN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Hastighet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A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Polylang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Flersprakighet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~1 000 kr/ar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pluginkostnad: ~3 000-5 000 kr/ar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280160"/>
            <a:ext cx="54864" cy="576072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0759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Offertformular med filuppladdning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57276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Flersteg: materialval, process, kvantitet, ritningsuppladdning. Kvalificerar leads automatiskt.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93392"/>
            <a:ext cx="54864" cy="5760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02082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Materialkalkylator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228600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Interaktivt: valj material + process + vikt = prisindikation + CTA. Unikt och lead-genererande.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06624"/>
            <a:ext cx="54864" cy="576072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73405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magnet: Gratis PDF-guide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299923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"Komplett guide till sourcing av metallkomponenter" — gratis mot e-post. Bygger lista.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19856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19856"/>
            <a:ext cx="54864" cy="576072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447288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Automatisk e-postsekvens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7124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5-stegs uppfoljning: bekraftelse, case study, materialguide, FAQ, personlig kontakt.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33088"/>
            <a:ext cx="8229600" cy="576072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33088"/>
            <a:ext cx="54864" cy="576072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605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(3-5 st)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5800" y="4425696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Utmaning, losning, resultat med siffror. Starkaste fortroendensignalen for B2B.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SEO-strategi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Sidor att bygga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719072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Materialguide: Aluminium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029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Materialguide: Gjutjarn / Stal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87168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140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Branscher: Fordon, Bygg, Energi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71216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7980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DFM-guide (Design for Manufacturing)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255264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182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Kvalitetsprocess &amp; Inspektion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39312"/>
            <a:ext cx="146304" cy="146304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3566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Leveransprocess steg-for-steg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Artikelideer (SEO long-tail)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719072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Sandgjutning vs pressgjutning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2103120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fungerar sourcing fran Asien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2487168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4140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misstag vid materialval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871216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0" name="Text 28"/>
          <p:cNvSpPr/>
          <p:nvPr/>
        </p:nvSpPr>
        <p:spPr>
          <a:xfrm>
            <a:off x="5166360" y="27980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Kostnadsguide: Gjutgods fran Kina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255264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2" name="Text 30"/>
          <p:cNvSpPr/>
          <p:nvPr/>
        </p:nvSpPr>
        <p:spPr>
          <a:xfrm>
            <a:off x="5166360" y="31821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CNC-toleranser — komplett guide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639312"/>
            <a:ext cx="146304" cy="146304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Aluminium vs stal — nar valja vad?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page: "Metallgjutning — Komplett guide" (3000+ ord) — lankar till alla undersidor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Atgardsplan — Prioriterad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5669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Atgard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Paverkan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5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bort duplicerade artiklar + 301-redirect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 sitemap — inkludera alla 18 sidor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 canonical pa /en/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Ersatt OG-bild med brandad 1200x630px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 bort extra GTM-container + fixa schema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 H1 pa tjanste- och kontaktsidor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Utoka tjanstsidor till 500-800 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Bygg intern lankning + breadcrumbs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 hreflang + lagg till tyska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E1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FAQ-schema + mobiloptimering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AB6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Framtid &amp; Tillvaxtpotential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7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3-5x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potentiell okning av organisk trafik inom 6 manader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1234440"/>
            <a:ext cx="4572000" cy="54864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1234440"/>
            <a:ext cx="54864" cy="5486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2527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SEO-grund finns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15087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Math Pro, snabb server, SSL — bara konfiguration saknas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0" y="1920240"/>
            <a:ext cx="4572000" cy="54864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920240"/>
            <a:ext cx="54864" cy="5486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17" name="Text 15"/>
          <p:cNvSpPr/>
          <p:nvPr/>
        </p:nvSpPr>
        <p:spPr>
          <a:xfrm>
            <a:off x="4343400" y="19385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konkurrens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43400" y="21945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B2B-sokord inom metallgjutning har fa svenska konkurrenter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2606040"/>
            <a:ext cx="4572000" cy="54864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606040"/>
            <a:ext cx="54864" cy="5486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6243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Internationell rackvidd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400" y="28803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Flersprakig sajt (sv/en/de) med ratt hreflang = global synlighet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3291840"/>
            <a:ext cx="4572000" cy="54864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3291840"/>
            <a:ext cx="54864" cy="5486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33101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35661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Regelbundna artiklar om gjutning, sourcing och material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3977640"/>
            <a:ext cx="4572000" cy="548640"/>
          </a:xfrm>
          <a:prstGeom prst="rect">
            <a:avLst/>
          </a:prstGeom>
          <a:solidFill>
            <a:srgbClr val="1E2538"/>
          </a:solidFill>
          <a:ln w="6350">
            <a:solidFill>
              <a:srgbClr val="2D354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0" y="3977640"/>
            <a:ext cx="54864" cy="54864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99592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A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+ LinkedIn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43400" y="4251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Komplettera organisk med betalda B2B-kanaler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486400" y="-914400"/>
            <a:ext cx="5486400" cy="7315200"/>
          </a:xfrm>
          <a:prstGeom prst="rect">
            <a:avLst/>
          </a:prstGeom>
          <a:solidFill>
            <a:srgbClr val="E8752A">
              <a:alpha val="9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875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SEARCHBOOST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Nasta Steg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73152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53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64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TRAFICATOR INTERNATIONAL AB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8646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5486400" cy="502920"/>
          </a:xfrm>
          <a:prstGeom prst="rect">
            <a:avLst/>
          </a:prstGeom>
          <a:solidFill>
            <a:srgbClr val="1E253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D9404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258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4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3258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 fixar alla kritiska problem (vecka 1)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5486400" cy="502920"/>
          </a:xfrm>
          <a:prstGeom prst="rect">
            <a:avLst/>
          </a:prstGeom>
          <a:solidFill>
            <a:srgbClr val="1E253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65960"/>
            <a:ext cx="54864" cy="5029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9659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19659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Lopande SEO-optimering — titel, meta, innehall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5486400" cy="502920"/>
          </a:xfrm>
          <a:prstGeom prst="rect">
            <a:avLst/>
          </a:prstGeom>
          <a:solidFill>
            <a:srgbClr val="1E253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606040"/>
            <a:ext cx="54864" cy="502920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060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26060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Manadsrapporter med positioner och trafik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5486400" cy="502920"/>
          </a:xfrm>
          <a:prstGeom prst="rect">
            <a:avLst/>
          </a:prstGeom>
          <a:solidFill>
            <a:srgbClr val="1E253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46120"/>
            <a:ext cx="54864" cy="502920"/>
          </a:xfrm>
          <a:prstGeom prst="rect">
            <a:avLst/>
          </a:prstGeom>
          <a:solidFill>
            <a:srgbClr val="3DAB6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A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9728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marketing — regelbundna artiklar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5486400" cy="502920"/>
          </a:xfrm>
          <a:prstGeom prst="rect">
            <a:avLst/>
          </a:prstGeom>
          <a:solidFill>
            <a:srgbClr val="1E2538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886200"/>
            <a:ext cx="54864" cy="502920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862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75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9728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 — offertformular + kalkylator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2743200" cy="36576"/>
          </a:xfrm>
          <a:prstGeom prst="rect">
            <a:avLst/>
          </a:prstGeom>
          <a:solidFill>
            <a:srgbClr val="E875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mikael@searchboost.se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searchboost.se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&amp; Webbanalys — Traficator International AB</dc:title>
  <dc:subject>PptxGenJS Presentation</dc:subject>
  <dc:creator>Searchboost</dc:creator>
  <cp:lastModifiedBy>Searchboost</cp:lastModifiedBy>
  <cp:revision>1</cp:revision>
  <dcterms:created xsi:type="dcterms:W3CDTF">2026-04-03T00:30:45Z</dcterms:created>
  <dcterms:modified xsi:type="dcterms:W3CDTF">2026-04-03T00:30:45Z</dcterms:modified>
</cp:coreProperties>
</file>